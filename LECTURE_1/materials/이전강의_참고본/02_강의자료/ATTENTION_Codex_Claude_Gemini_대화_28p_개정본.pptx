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43a25f4f24da3" /><Relationship Type="http://schemas.openxmlformats.org/officeDocument/2006/relationships/extended-properties" Target="/docProps/app.xml" Id="R73eee269230c4b66" /><Relationship Type="http://schemas.openxmlformats.org/officeDocument/2006/relationships/officeDocument" Target="/ppt/presentation.xml" Id="R06ffcf3d65154f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606f54ca148ce"/>
  </p:sldMasterIdLst>
  <p:notesMasterIdLst>
    <p:notesMasterId xmlns:r="http://schemas.openxmlformats.org/officeDocument/2006/relationships" r:id="R727de35dcec2453d"/>
  </p:notesMasterIdLst>
  <p:sldIdLst>
    <p:sldId xmlns:r="http://schemas.openxmlformats.org/officeDocument/2006/relationships" id="256" r:id="R6c41ec3eefc64a55"/>
    <p:sldId xmlns:r="http://schemas.openxmlformats.org/officeDocument/2006/relationships" id="257" r:id="R9c3d497e1c1f41c7"/>
    <p:sldId xmlns:r="http://schemas.openxmlformats.org/officeDocument/2006/relationships" id="258" r:id="R0196b25171c34ab3"/>
    <p:sldId xmlns:r="http://schemas.openxmlformats.org/officeDocument/2006/relationships" id="259" r:id="R429089280c5741bf"/>
    <p:sldId xmlns:r="http://schemas.openxmlformats.org/officeDocument/2006/relationships" id="260" r:id="R87a387c41e694127"/>
    <p:sldId xmlns:r="http://schemas.openxmlformats.org/officeDocument/2006/relationships" id="261" r:id="Rbbcccc0f7a5444a5"/>
    <p:sldId xmlns:r="http://schemas.openxmlformats.org/officeDocument/2006/relationships" id="262" r:id="R6a6d5c56a75945f9"/>
    <p:sldId xmlns:r="http://schemas.openxmlformats.org/officeDocument/2006/relationships" id="263" r:id="R6f3a4399f50b4eaf"/>
    <p:sldId xmlns:r="http://schemas.openxmlformats.org/officeDocument/2006/relationships" id="264" r:id="R331cb8db53b74f68"/>
    <p:sldId xmlns:r="http://schemas.openxmlformats.org/officeDocument/2006/relationships" id="265" r:id="R34c549edad0e49f9"/>
    <p:sldId xmlns:r="http://schemas.openxmlformats.org/officeDocument/2006/relationships" id="266" r:id="R76d74a0fcc0c4807"/>
    <p:sldId xmlns:r="http://schemas.openxmlformats.org/officeDocument/2006/relationships" id="267" r:id="R30baf2f0d4b14847"/>
    <p:sldId xmlns:r="http://schemas.openxmlformats.org/officeDocument/2006/relationships" id="268" r:id="R3fbb77a3f12d4bd0"/>
    <p:sldId xmlns:r="http://schemas.openxmlformats.org/officeDocument/2006/relationships" id="269" r:id="Ra89ef2313a1242e5"/>
    <p:sldId xmlns:r="http://schemas.openxmlformats.org/officeDocument/2006/relationships" id="270" r:id="R89ce4654df5d4ae9"/>
    <p:sldId xmlns:r="http://schemas.openxmlformats.org/officeDocument/2006/relationships" id="271" r:id="R29a2ed2c76b1456e"/>
    <p:sldId xmlns:r="http://schemas.openxmlformats.org/officeDocument/2006/relationships" id="272" r:id="R30c81ac4f6be447a"/>
    <p:sldId xmlns:r="http://schemas.openxmlformats.org/officeDocument/2006/relationships" id="273" r:id="R05a4f17e1de840e1"/>
    <p:sldId xmlns:r="http://schemas.openxmlformats.org/officeDocument/2006/relationships" id="274" r:id="R90372fcac6d041f3"/>
    <p:sldId xmlns:r="http://schemas.openxmlformats.org/officeDocument/2006/relationships" id="275" r:id="R45415eae020341c4"/>
    <p:sldId xmlns:r="http://schemas.openxmlformats.org/officeDocument/2006/relationships" id="276" r:id="R9678e4d1842c4a70"/>
    <p:sldId xmlns:r="http://schemas.openxmlformats.org/officeDocument/2006/relationships" id="277" r:id="R44c3e4d78ee34ea5"/>
    <p:sldId xmlns:r="http://schemas.openxmlformats.org/officeDocument/2006/relationships" id="278" r:id="R1971ff233aaa4a90"/>
    <p:sldId xmlns:r="http://schemas.openxmlformats.org/officeDocument/2006/relationships" id="279" r:id="R60965ac72b214802"/>
    <p:sldId xmlns:r="http://schemas.openxmlformats.org/officeDocument/2006/relationships" id="280" r:id="R1899864f8e3a49ac"/>
    <p:sldId xmlns:r="http://schemas.openxmlformats.org/officeDocument/2006/relationships" id="281" r:id="R126be0df019a48c1"/>
    <p:sldId xmlns:r="http://schemas.openxmlformats.org/officeDocument/2006/relationships" id="282" r:id="R1a2a27e1554f4c3a"/>
    <p:sldId xmlns:r="http://schemas.openxmlformats.org/officeDocument/2006/relationships" id="283" r:id="R83eb5cfc98c94c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d368bb2334b83" /><Relationship Type="http://schemas.openxmlformats.org/officeDocument/2006/relationships/slideMaster" Target="/ppt/slideMasters/slideMaster1.xml" Id="R2ad606f54ca148ce" /><Relationship Type="http://schemas.openxmlformats.org/officeDocument/2006/relationships/notesMaster" Target="/ppt/notesMasters/notesMaster1.xml" Id="R727de35dcec2453d" /><Relationship Type="http://schemas.openxmlformats.org/officeDocument/2006/relationships/presProps" Target="/ppt/presProps.xml" Id="R6b7c9f9ca6534447" /><Relationship Type="http://schemas.openxmlformats.org/officeDocument/2006/relationships/tableStyles" Target="/ppt/tableStyles.xml" Id="R8cf3ea7ebe4b41a6" /><Relationship Type="http://schemas.openxmlformats.org/officeDocument/2006/relationships/slide" Target="/ppt/slides/slide1.xml" Id="R6c41ec3eefc64a55" /><Relationship Type="http://schemas.openxmlformats.org/officeDocument/2006/relationships/slide" Target="/ppt/slides/slide2.xml" Id="R9c3d497e1c1f41c7" /><Relationship Type="http://schemas.openxmlformats.org/officeDocument/2006/relationships/slide" Target="/ppt/slides/slide3.xml" Id="R0196b25171c34ab3" /><Relationship Type="http://schemas.openxmlformats.org/officeDocument/2006/relationships/slide" Target="/ppt/slides/slide4.xml" Id="R429089280c5741bf" /><Relationship Type="http://schemas.openxmlformats.org/officeDocument/2006/relationships/slide" Target="/ppt/slides/slide5.xml" Id="R87a387c41e694127" /><Relationship Type="http://schemas.openxmlformats.org/officeDocument/2006/relationships/slide" Target="/ppt/slides/slide6.xml" Id="Rbbcccc0f7a5444a5" /><Relationship Type="http://schemas.openxmlformats.org/officeDocument/2006/relationships/slide" Target="/ppt/slides/slide7.xml" Id="R6a6d5c56a75945f9" /><Relationship Type="http://schemas.openxmlformats.org/officeDocument/2006/relationships/slide" Target="/ppt/slides/slide8.xml" Id="R6f3a4399f50b4eaf" /><Relationship Type="http://schemas.openxmlformats.org/officeDocument/2006/relationships/slide" Target="/ppt/slides/slide9.xml" Id="R331cb8db53b74f68" /><Relationship Type="http://schemas.openxmlformats.org/officeDocument/2006/relationships/slide" Target="/ppt/slides/slide10.xml" Id="R34c549edad0e49f9" /><Relationship Type="http://schemas.openxmlformats.org/officeDocument/2006/relationships/slide" Target="/ppt/slides/slide11.xml" Id="R76d74a0fcc0c4807" /><Relationship Type="http://schemas.openxmlformats.org/officeDocument/2006/relationships/slide" Target="/ppt/slides/slide12.xml" Id="R30baf2f0d4b14847" /><Relationship Type="http://schemas.openxmlformats.org/officeDocument/2006/relationships/slide" Target="/ppt/slides/slide13.xml" Id="R3fbb77a3f12d4bd0" /><Relationship Type="http://schemas.openxmlformats.org/officeDocument/2006/relationships/slide" Target="/ppt/slides/slide14.xml" Id="Ra89ef2313a1242e5" /><Relationship Type="http://schemas.openxmlformats.org/officeDocument/2006/relationships/slide" Target="/ppt/slides/slide15.xml" Id="R89ce4654df5d4ae9" /><Relationship Type="http://schemas.openxmlformats.org/officeDocument/2006/relationships/slide" Target="/ppt/slides/slide16.xml" Id="R29a2ed2c76b1456e" /><Relationship Type="http://schemas.openxmlformats.org/officeDocument/2006/relationships/slide" Target="/ppt/slides/slide17.xml" Id="R30c81ac4f6be447a" /><Relationship Type="http://schemas.openxmlformats.org/officeDocument/2006/relationships/slide" Target="/ppt/slides/slide18.xml" Id="R05a4f17e1de840e1" /><Relationship Type="http://schemas.openxmlformats.org/officeDocument/2006/relationships/slide" Target="/ppt/slides/slide19.xml" Id="R90372fcac6d041f3" /><Relationship Type="http://schemas.openxmlformats.org/officeDocument/2006/relationships/slide" Target="/ppt/slides/slide20.xml" Id="R45415eae020341c4" /><Relationship Type="http://schemas.openxmlformats.org/officeDocument/2006/relationships/slide" Target="/ppt/slides/slide21.xml" Id="R9678e4d1842c4a70" /><Relationship Type="http://schemas.openxmlformats.org/officeDocument/2006/relationships/slide" Target="/ppt/slides/slide22.xml" Id="R44c3e4d78ee34ea5" /><Relationship Type="http://schemas.openxmlformats.org/officeDocument/2006/relationships/slide" Target="/ppt/slides/slide23.xml" Id="R1971ff233aaa4a90" /><Relationship Type="http://schemas.openxmlformats.org/officeDocument/2006/relationships/slide" Target="/ppt/slides/slide24.xml" Id="R60965ac72b214802" /><Relationship Type="http://schemas.openxmlformats.org/officeDocument/2006/relationships/slide" Target="/ppt/slides/slide25.xml" Id="R1899864f8e3a49ac" /><Relationship Type="http://schemas.openxmlformats.org/officeDocument/2006/relationships/slide" Target="/ppt/slides/slide26.xml" Id="R126be0df019a48c1" /><Relationship Type="http://schemas.openxmlformats.org/officeDocument/2006/relationships/slide" Target="/ppt/slides/slide27.xml" Id="R1a2a27e1554f4c3a" /><Relationship Type="http://schemas.openxmlformats.org/officeDocument/2006/relationships/slide" Target="/ppt/slides/slide28.xml" Id="R83eb5cfc98c9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c89561b95f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807e899424e6d" /><Relationship Type="http://schemas.openxmlformats.org/officeDocument/2006/relationships/notesMaster" Target="/ppt/notesMasters/notesMaster1.xml" Id="R7dc60d6e94ab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09a54a38e44bc2" /><Relationship Type="http://schemas.openxmlformats.org/officeDocument/2006/relationships/notesMaster" Target="/ppt/notesMasters/notesMaster1.xml" Id="R4779e663c06b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7b4b860e84822" /><Relationship Type="http://schemas.openxmlformats.org/officeDocument/2006/relationships/notesMaster" Target="/ppt/notesMasters/notesMaster1.xml" Id="R747d1843f4c0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952a2c59e84e17" /><Relationship Type="http://schemas.openxmlformats.org/officeDocument/2006/relationships/notesMaster" Target="/ppt/notesMasters/notesMaster1.xml" Id="Rdfca59d8d4a64f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a101b68804118" /><Relationship Type="http://schemas.openxmlformats.org/officeDocument/2006/relationships/notesMaster" Target="/ppt/notesMasters/notesMaster1.xml" Id="Rd21b1572546c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55c845c6bb4c9d" /><Relationship Type="http://schemas.openxmlformats.org/officeDocument/2006/relationships/notesMaster" Target="/ppt/notesMasters/notesMaster1.xml" Id="R4e2f6a1a8fc94f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d9e23ac4fe4d82" /><Relationship Type="http://schemas.openxmlformats.org/officeDocument/2006/relationships/notesMaster" Target="/ppt/notesMasters/notesMaster1.xml" Id="R7b588a81a8544f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fad0faede40d7" /><Relationship Type="http://schemas.openxmlformats.org/officeDocument/2006/relationships/notesMaster" Target="/ppt/notesMasters/notesMaster1.xml" Id="R68c556c4220247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7eb9d7729e4d66" /><Relationship Type="http://schemas.openxmlformats.org/officeDocument/2006/relationships/notesMaster" Target="/ppt/notesMasters/notesMaster1.xml" Id="Rdc2569ca139d49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2f00afdfb34d63" /><Relationship Type="http://schemas.openxmlformats.org/officeDocument/2006/relationships/notesMaster" Target="/ppt/notesMasters/notesMaster1.xml" Id="Re723a855804a4b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9ac76634fd493d" /><Relationship Type="http://schemas.openxmlformats.org/officeDocument/2006/relationships/notesMaster" Target="/ppt/notesMasters/notesMaster1.xml" Id="R9efc6408915f46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37b9ab86524a76" /><Relationship Type="http://schemas.openxmlformats.org/officeDocument/2006/relationships/notesMaster" Target="/ppt/notesMasters/notesMaster1.xml" Id="R0bf6d36ed05c48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56fa2697b24a86" /><Relationship Type="http://schemas.openxmlformats.org/officeDocument/2006/relationships/notesMaster" Target="/ppt/notesMasters/notesMaster1.xml" Id="R748ea702296d4d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d0d188cf724a27" /><Relationship Type="http://schemas.openxmlformats.org/officeDocument/2006/relationships/notesMaster" Target="/ppt/notesMasters/notesMaster1.xml" Id="R4c2842d6764e46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6bf8c80f4848d9" /><Relationship Type="http://schemas.openxmlformats.org/officeDocument/2006/relationships/notesMaster" Target="/ppt/notesMasters/notesMaster1.xml" Id="R1d51e38f104444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3bdd7cc8a34488" /><Relationship Type="http://schemas.openxmlformats.org/officeDocument/2006/relationships/notesMaster" Target="/ppt/notesMasters/notesMaster1.xml" Id="R19eaca2e7ab844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4a6e439de94924" /><Relationship Type="http://schemas.openxmlformats.org/officeDocument/2006/relationships/notesMaster" Target="/ppt/notesMasters/notesMaster1.xml" Id="R632dc145716746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4899ba3aff4642" /><Relationship Type="http://schemas.openxmlformats.org/officeDocument/2006/relationships/notesMaster" Target="/ppt/notesMasters/notesMaster1.xml" Id="R5bb59ed83b6544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565166101d466a" /><Relationship Type="http://schemas.openxmlformats.org/officeDocument/2006/relationships/notesMaster" Target="/ppt/notesMasters/notesMaster1.xml" Id="R900da9cfc2b245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294924f03b4745" /><Relationship Type="http://schemas.openxmlformats.org/officeDocument/2006/relationships/notesMaster" Target="/ppt/notesMasters/notesMaster1.xml" Id="Re1e5f44626d048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be48fa2e32476b" /><Relationship Type="http://schemas.openxmlformats.org/officeDocument/2006/relationships/notesMaster" Target="/ppt/notesMasters/notesMaster1.xml" Id="Rc48589bbd66a41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493ba781cf4b52" /><Relationship Type="http://schemas.openxmlformats.org/officeDocument/2006/relationships/notesMaster" Target="/ppt/notesMasters/notesMaster1.xml" Id="R1f1cea0028f640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61adc2ee024cd2" /><Relationship Type="http://schemas.openxmlformats.org/officeDocument/2006/relationships/notesMaster" Target="/ppt/notesMasters/notesMaster1.xml" Id="R12e5f67c22dc4c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56e71cfa594efc" /><Relationship Type="http://schemas.openxmlformats.org/officeDocument/2006/relationships/notesMaster" Target="/ppt/notesMasters/notesMaster1.xml" Id="R9b8c9aa169e84b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71a57b047bd4baa" /><Relationship Type="http://schemas.openxmlformats.org/officeDocument/2006/relationships/notesMaster" Target="/ppt/notesMasters/notesMaster1.xml" Id="R25a76e10a9464f1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d7d318cb034355" /><Relationship Type="http://schemas.openxmlformats.org/officeDocument/2006/relationships/notesMaster" Target="/ppt/notesMasters/notesMaster1.xml" Id="Rf9d2907ec62c4e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eca1b115594c7b" /><Relationship Type="http://schemas.openxmlformats.org/officeDocument/2006/relationships/notesMaster" Target="/ppt/notesMasters/notesMaster1.xml" Id="R2908854f52bc427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0a992ca2fc74539" /><Relationship Type="http://schemas.openxmlformats.org/officeDocument/2006/relationships/notesMaster" Target="/ppt/notesMasters/notesMaster1.xml" Id="Re783171c7dde42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1/28 Codex가 Claude와 Gemini를 불러 대화하게 하기</a:t>
            </a:r>
          </a:p>
          <a:p xmlns:a="http://schemas.openxmlformats.org/drawingml/2006/main">
            <a:r>
              <a:t>경과 0~2분 (2분)</a:t>
            </a:r>
          </a:p>
          <a:p xmlns:a="http://schemas.openxmlformats.org/drawingml/2006/main">
            <a:r>
              <a:t>진행·입력: Codex 작업 폴더와 대화 기록을 먼저 연다.</a:t>
            </a:r>
          </a:p>
          <a:p xmlns:a="http://schemas.openxmlformats.org/drawingml/2006/main">
            <a:r>
              <a:t>확인: 강의 주제가 AI 간 대화 연결임을 말한다.</a:t>
            </a:r>
          </a:p>
          <a:p xmlns:a="http://schemas.openxmlformats.org/drawingml/2006/main">
            <a:r>
              <a:t>막힐 때: 연결 구조 그림을 사용한다.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2/28 오늘 보여줄 장면</a:t>
            </a:r>
          </a:p>
          <a:p xmlns:a="http://schemas.openxmlformats.org/drawingml/2006/main">
            <a:r>
              <a:t>경과 2~5분 (3분)</a:t>
            </a:r>
          </a:p>
          <a:p xmlns:a="http://schemas.openxmlformats.org/drawingml/2006/main">
            <a:r>
              <a:t>진행·입력: 대화 파일의 발신자와 수신자를 차례로 가리킨다.</a:t>
            </a:r>
          </a:p>
          <a:p xmlns:a="http://schemas.openxmlformats.org/drawingml/2006/main">
            <a:r>
              <a:t>확인: 한 번의 답변 받기와 왕복 대화를 구분한다.</a:t>
            </a:r>
          </a:p>
          <a:p xmlns:a="http://schemas.openxmlformats.org/drawingml/2006/main">
            <a:r>
              <a:t>막힐 때: 재생 대본을 교육용 예시로 표시해 읽는다.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3/28 누가 대화를 진행할까</a:t>
            </a:r>
          </a:p>
          <a:p xmlns:a="http://schemas.openxmlformats.org/drawingml/2006/main">
            <a:r>
              <a:t>경과 5~10분 (5분)</a:t>
            </a:r>
          </a:p>
          <a:p xmlns:a="http://schemas.openxmlformats.org/drawingml/2006/main">
            <a:r>
              <a:t>진행·입력: 메인과 외부 답변자의 역할을 설명한다.</a:t>
            </a:r>
          </a:p>
          <a:p xmlns:a="http://schemas.openxmlformats.org/drawingml/2006/main">
            <a:r>
              <a:t>확인: Codex 혼자 외부 모델 역할을 연기하지 않음을 확인한다.</a:t>
            </a:r>
          </a:p>
          <a:p xmlns:a="http://schemas.openxmlformats.org/drawingml/2006/main">
            <a:r>
              <a:t>막힐 때: 각 역할을 한 문장씩 읽는다.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  <a:p xmlns:a="http://schemas.openxmlformats.org/drawingml/2006/main">
            <a:r>
              <a:t>G1 Gemini 비대화형 호출 https://geminicli.com/docs/cli/headless/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4/28 연결의 실제 경로</a:t>
            </a:r>
          </a:p>
          <a:p xmlns:a="http://schemas.openxmlformats.org/drawingml/2006/main">
            <a:r>
              <a:t>경과 10~14분 (4분)</a:t>
            </a:r>
          </a:p>
          <a:p xmlns:a="http://schemas.openxmlformats.org/drawingml/2006/main">
            <a:r>
              <a:t>진행·입력: tools/relay.py와 messages·sessions 폴더를 연다.</a:t>
            </a:r>
          </a:p>
          <a:p xmlns:a="http://schemas.openxmlformats.org/drawingml/2006/main">
            <a:r>
              <a:t>확인: 프로그램과 모델의 역할을 구분한다.</a:t>
            </a:r>
          </a:p>
          <a:p xmlns:a="http://schemas.openxmlformats.org/drawingml/2006/main">
            <a:r>
              <a:t>막힐 때: 슬라이드의 연결 경로를 짚는다.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  <a:p xmlns:a="http://schemas.openxmlformats.org/drawingml/2006/main">
            <a:r>
              <a:t>G1 Gemini 비대화형 호출 https://geminicli.com/docs/cli/headless/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5/28 수업 전에 준비할 프로그램</a:t>
            </a:r>
          </a:p>
          <a:p xmlns:a="http://schemas.openxmlformats.org/drawingml/2006/main">
            <a:r>
              <a:t>경과 14~18분 (4분)</a:t>
            </a:r>
          </a:p>
          <a:p xmlns:a="http://schemas.openxmlformats.org/drawingml/2006/main">
            <a:r>
              <a:t>진행·입력: 프로그램과 로그인 안내를 보여준다. 설치는 사전에 마친다.</a:t>
            </a:r>
          </a:p>
          <a:p xmlns:a="http://schemas.openxmlformats.org/drawingml/2006/main">
            <a:r>
              <a:t>확인: 로그인·사용량은 각 계정 조건임을 말한다.</a:t>
            </a:r>
          </a:p>
          <a:p xmlns:a="http://schemas.openxmlformats.org/drawingml/2006/main">
            <a:r>
              <a:t>막힐 때: 설치 대신 시연과 재생을 사용한다.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C3 Claude 설치 https://code.claude.com/docs/en/setup</a:t>
            </a:r>
          </a:p>
          <a:p xmlns:a="http://schemas.openxmlformats.org/drawingml/2006/main">
            <a:r>
              <a:t>G3 Gemini 설치 https://geminicli.com/docs/get-started/installation/</a:t>
            </a:r>
          </a:p>
          <a:p xmlns:a="http://schemas.openxmlformats.org/drawingml/2006/main">
            <a:r>
              <a:t>G4 Gemini 인증 https://geminicli.com/docs/get-started/authentication/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6/28 Claude 설치와 본인 로그인</a:t>
            </a:r>
          </a:p>
          <a:p xmlns:a="http://schemas.openxmlformats.org/drawingml/2006/main">
            <a:r>
              <a:t>경과 18~22분 (4분)</a:t>
            </a:r>
          </a:p>
          <a:p xmlns:a="http://schemas.openxmlformats.org/drawingml/2006/main">
            <a:r>
              <a:t>진행·입력: 사전 준비한 Claude 버전을 보여주고 인증 완료 여부만 확인한다.</a:t>
            </a:r>
          </a:p>
          <a:p xmlns:a="http://schemas.openxmlformats.org/drawingml/2006/main">
            <a:r>
              <a:t>확인: 버전 출력만으로 응답 성공이라고 하지 않는다.</a:t>
            </a:r>
          </a:p>
          <a:p xmlns:a="http://schemas.openxmlformats.org/drawingml/2006/main">
            <a:r>
              <a:t>막힐 때: 기존 실제 검토 기록과 새 회신 파일을 사용한다.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C3 Claude 설치 https://code.claude.com/docs/en/setup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7/28 Codex에게 넣을 첫 지시문</a:t>
            </a:r>
          </a:p>
          <a:p xmlns:a="http://schemas.openxmlformats.org/drawingml/2006/main">
            <a:r>
              <a:t>경과 22~25분 (3분)</a:t>
            </a:r>
          </a:p>
          <a:p xmlns:a="http://schemas.openxmlformats.org/drawingml/2006/main">
            <a:r>
              <a:t>진행·입력: 01_Codex에_넣을_시작문.md를 Codex에 붙여 넣는다.</a:t>
            </a:r>
          </a:p>
          <a:p xmlns:a="http://schemas.openxmlformats.org/drawingml/2006/main">
            <a:r>
              <a:t>확인: 누가 진행하고 몇 번 주고받을지 찾는다.</a:t>
            </a:r>
          </a:p>
          <a:p xmlns:a="http://schemas.openxmlformats.org/drawingml/2006/main">
            <a:r>
              <a:t>막힐 때: 시작문을 화면으로 읽는다.</a:t>
            </a:r>
          </a:p>
          <a:p xmlns:a="http://schemas.openxmlformats.org/drawingml/2006/main">
            <a:r>
              <a:t>실습 파일: 03_실습프로젝트/prompts/01_Codex에_넣을_시작문.md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8/28 시연 1 · Codex가 Claude를 부르기</a:t>
            </a:r>
          </a:p>
          <a:p xmlns:a="http://schemas.openxmlformats.org/drawingml/2006/main">
            <a:r>
              <a:t>경과 25~30분 (5분)</a:t>
            </a:r>
          </a:p>
          <a:p xmlns:a="http://schemas.openxmlformats.org/drawingml/2006/main">
            <a:r>
              <a:t>진행·입력: Codex가 check와 prepare를 실행하게 한다.</a:t>
            </a:r>
          </a:p>
          <a:p xmlns:a="http://schemas.openxmlformats.org/drawingml/2006/main">
            <a:r>
              <a:t>확인: 첫 질문과 수신자가 packet.md에 있는지 본다.</a:t>
            </a:r>
          </a:p>
          <a:p xmlns:a="http://schemas.openxmlformats.org/drawingml/2006/main">
            <a:r>
              <a:t>막힐 때: 준비된 실제대화 패킷을 연다.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9/28 Claude에게 무엇이 전달될까</a:t>
            </a:r>
          </a:p>
          <a:p xmlns:a="http://schemas.openxmlformats.org/drawingml/2006/main">
            <a:r>
              <a:t>경과 30~35분 (5분)</a:t>
            </a:r>
          </a:p>
          <a:p xmlns:a="http://schemas.openxmlformats.org/drawingml/2006/main">
            <a:r>
              <a:t>진행·입력: sessions/live/turn-001/packet.md 전체를 열어 확인한다.</a:t>
            </a:r>
          </a:p>
          <a:p xmlns:a="http://schemas.openxmlformats.org/drawingml/2006/main">
            <a:r>
              <a:t>확인: Claude에게 보내는 실제 텍스트를 찾는다.</a:t>
            </a:r>
          </a:p>
          <a:p xmlns:a="http://schemas.openxmlformats.org/drawingml/2006/main">
            <a:r>
              <a:t>막힐 때: 공개 사례만 담긴 실제 패킷을 사용한다.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10/28 실제 호출을 실행하기</a:t>
            </a:r>
          </a:p>
          <a:p xmlns:a="http://schemas.openxmlformats.org/drawingml/2006/main">
            <a:r>
              <a:t>경과 35~40분 (5분)</a:t>
            </a:r>
          </a:p>
          <a:p xmlns:a="http://schemas.openxmlformats.org/drawingml/2006/main">
            <a:r>
              <a:t>진행·입력: Codex가 send를 실행하고 완료 파일을 읽게 한다.</a:t>
            </a:r>
          </a:p>
          <a:p xmlns:a="http://schemas.openxmlformats.org/drawingml/2006/main">
            <a:r>
              <a:t>확인: 실행했다는 말과 완료된 회신을 구별한다.</a:t>
            </a:r>
          </a:p>
          <a:p xmlns:a="http://schemas.openxmlformats.org/drawingml/2006/main">
            <a:r>
              <a:t>막힐 때: 90초 넘으면 저장된 실제 회신으로 이어간다.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  <a:p xmlns:a="http://schemas.openxmlformats.org/drawingml/2006/main">
            <a:r>
              <a:t>C2 Claude CLI 옵션 https://code.claude.com/docs/en/cli-reference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11/28 Claude의 첫 답변을 Codex가 읽기</a:t>
            </a:r>
          </a:p>
          <a:p xmlns:a="http://schemas.openxmlformats.org/drawingml/2006/main">
            <a:r>
              <a:t>경과 40~45분 (5분)</a:t>
            </a:r>
          </a:p>
          <a:p xmlns:a="http://schemas.openxmlformats.org/drawingml/2006/main">
            <a:r>
              <a:t>진행·입력: 실제 reply.md를 읽고 세 항목을 Codex에게 작성시킨다.</a:t>
            </a:r>
          </a:p>
          <a:p xmlns:a="http://schemas.openxmlformats.org/drawingml/2006/main">
            <a:r>
              <a:t>확인: 외부 회신을 모두 수용하지 않는다.</a:t>
            </a:r>
          </a:p>
          <a:p xmlns:a="http://schemas.openxmlformats.org/drawingml/2006/main">
            <a:r>
              <a:t>막힐 때: 실제 두 차례 검토의 수용·기각을 보여준다.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L1 앞선 실제 Codex Claude 검토 05_사례/기존_실제검토_요약.md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12/28 시연 2 · Codex가 자기 답변 쓰기</a:t>
            </a:r>
          </a:p>
          <a:p xmlns:a="http://schemas.openxmlformats.org/drawingml/2006/main">
            <a:r>
              <a:t>경과 45~50분 (5분)</a:t>
            </a:r>
          </a:p>
          <a:p xmlns:a="http://schemas.openxmlformats.org/drawingml/2006/main">
            <a:r>
              <a:t>진행·입력: 재질문 지시문으로 Codex가 실제 답변 파일을 작성하게 한다.</a:t>
            </a:r>
          </a:p>
          <a:p xmlns:a="http://schemas.openxmlformats.org/drawingml/2006/main">
            <a:r>
              <a:t>확인: 직전 회신에 대한 답인지 확인한다.</a:t>
            </a:r>
          </a:p>
          <a:p xmlns:a="http://schemas.openxmlformats.org/drawingml/2006/main">
            <a:r>
              <a:t>막힐 때: 이번 실제대화에서 작성한 Codex 답변을 읽는다.</a:t>
            </a:r>
          </a:p>
          <a:p xmlns:a="http://schemas.openxmlformats.org/drawingml/2006/main">
            <a:r>
              <a:t>실습 파일: 03_실습프로젝트/prompts/02_Codex에_넣을_재질문.md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13/28 Claude에게 Codex 답변을 다시 보내기</a:t>
            </a:r>
          </a:p>
          <a:p xmlns:a="http://schemas.openxmlformats.org/drawingml/2006/main">
            <a:r>
              <a:t>경과 50~55분 (5분)</a:t>
            </a:r>
          </a:p>
          <a:p xmlns:a="http://schemas.openxmlformats.org/drawingml/2006/main">
            <a:r>
              <a:t>진행·입력: 두 번째 packet.md에 첫 회신과 Codex 답변이 들어 있는지 확인하고 보낸다.</a:t>
            </a:r>
          </a:p>
          <a:p xmlns:a="http://schemas.openxmlformats.org/drawingml/2006/main">
            <a:r>
              <a:t>확인: 이전 답변을 전달하지 않은 채 아는 척하지 않는다.</a:t>
            </a:r>
          </a:p>
          <a:p xmlns:a="http://schemas.openxmlformats.org/drawingml/2006/main">
            <a:r>
              <a:t>막힐 때: 저장된 두 번째 실제 회신으로 이어간다.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14/28 대화 기억을 이어가는 두 방법</a:t>
            </a:r>
          </a:p>
          <a:p xmlns:a="http://schemas.openxmlformats.org/drawingml/2006/main">
            <a:r>
              <a:t>경과 55~60분 (5분)</a:t>
            </a:r>
          </a:p>
          <a:p xmlns:a="http://schemas.openxmlformats.org/drawingml/2006/main">
            <a:r>
              <a:t>진행·입력: 두 번째 패킷과 첫 패킷을 비교한다. 고유 세션 ID와 수업 이력을 구별한다.</a:t>
            </a:r>
          </a:p>
          <a:p xmlns:a="http://schemas.openxmlformats.org/drawingml/2006/main">
            <a:r>
              <a:t>확인: 한 세션을 계속 쓴 것처럼 잘못 설명하지 않는다.</a:t>
            </a:r>
          </a:p>
          <a:p xmlns:a="http://schemas.openxmlformats.org/drawingml/2006/main">
            <a:r>
              <a:t>막힐 때: packet.md 두 개를 나란히 읽는다.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  <a:p xmlns:a="http://schemas.openxmlformats.org/drawingml/2006/main">
            <a:r>
              <a:t>G2 Gemini CLI 옵션 https://geminicli.com/docs/cli/cli-reference/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15/28 AI끼리 합의하면 끝일까</a:t>
            </a:r>
          </a:p>
          <a:p xmlns:a="http://schemas.openxmlformats.org/drawingml/2006/main">
            <a:r>
              <a:t>경과 60~65분 (5분)</a:t>
            </a:r>
          </a:p>
          <a:p xmlns:a="http://schemas.openxmlformats.org/drawingml/2006/main">
            <a:r>
              <a:t>진행·입력: Codex가 outcome.md에 합의·불일치·사람 판단을 쓰게 한다.</a:t>
            </a:r>
          </a:p>
          <a:p xmlns:a="http://schemas.openxmlformats.org/drawingml/2006/main">
            <a:r>
              <a:t>확인: 두 모델의 동의를 독립 출처라고 하지 않는다.</a:t>
            </a:r>
          </a:p>
          <a:p xmlns:a="http://schemas.openxmlformats.org/drawingml/2006/main">
            <a:r>
              <a:t>막힐 때: 기존 실제 검토의 미해결 항목을 보여준다.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L1 앞선 실제 Codex Claude 검토 05_사례/기존_실제검토_요약.md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16/28 5분 쉬고 이어갑니다</a:t>
            </a:r>
          </a:p>
          <a:p xmlns:a="http://schemas.openxmlformats.org/drawingml/2006/main">
            <a:r>
              <a:t>경과 65~70분 (5분)</a:t>
            </a:r>
          </a:p>
          <a:p xmlns:a="http://schemas.openxmlformats.org/drawingml/2006/main">
            <a:r>
              <a:t>진행·입력: 강사 계정의 Gemini 사전 준비 상태를 확인한다.</a:t>
            </a:r>
          </a:p>
          <a:p xmlns:a="http://schemas.openxmlformats.org/drawingml/2006/main">
            <a:r>
              <a:t>확인: 새로운 로그인 시연으로 시간을 소모하지 않는다.</a:t>
            </a:r>
          </a:p>
          <a:p xmlns:a="http://schemas.openxmlformats.org/drawingml/2006/main">
            <a:r>
              <a:t>막힐 때: Gemini 미준비이면 합류 구조와 예시로 진행한다.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17/28 시연 3 · Gemini 준비 상태 확인</a:t>
            </a:r>
          </a:p>
          <a:p xmlns:a="http://schemas.openxmlformats.org/drawingml/2006/main">
            <a:r>
              <a:t>경과 70~75분 (5분)</a:t>
            </a:r>
          </a:p>
          <a:p xmlns:a="http://schemas.openxmlformats.org/drawingml/2006/main">
            <a:r>
              <a:t>진행·입력: 로그인된 강사 환경에서 버전을 확인한다. 미설치면 미완료로 표시한다.</a:t>
            </a:r>
          </a:p>
          <a:p xmlns:a="http://schemas.openxmlformats.org/drawingml/2006/main">
            <a:r>
              <a:t>확인: 이번 PC에서 Gemini 실제 호출 검증 여부를 말한다.</a:t>
            </a:r>
          </a:p>
          <a:p xmlns:a="http://schemas.openxmlformats.org/drawingml/2006/main">
            <a:r>
              <a:t>막힐 때: 재생 대본을 실제 회신과 구별해 사용한다.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G3 Gemini 설치 https://geminicli.com/docs/get-started/installation/</a:t>
            </a:r>
          </a:p>
          <a:p xmlns:a="http://schemas.openxmlformats.org/drawingml/2006/main">
            <a:r>
              <a:t>G4 Gemini 인증 https://geminicli.com/docs/get-started/authentication/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18/28 Gemini에게 앞선 대화를 건네기</a:t>
            </a:r>
          </a:p>
          <a:p xmlns:a="http://schemas.openxmlformats.org/drawingml/2006/main">
            <a:r>
              <a:t>경과 75~80분 (5분)</a:t>
            </a:r>
          </a:p>
          <a:p xmlns:a="http://schemas.openxmlformats.org/drawingml/2006/main">
            <a:r>
              <a:t>진행·입력: Gemini 합류 지시문을 입력하고 새 패킷의 이전 대화를 확인한다.</a:t>
            </a:r>
          </a:p>
          <a:p xmlns:a="http://schemas.openxmlformats.org/drawingml/2006/main">
            <a:r>
              <a:t>확인: Gemini가 받지 않은 자료를 읽었다고 하지 않는다.</a:t>
            </a:r>
          </a:p>
          <a:p xmlns:a="http://schemas.openxmlformats.org/drawingml/2006/main">
            <a:r>
              <a:t>막힐 때: 세 번째 패킷의 구조만 보여준다.</a:t>
            </a:r>
          </a:p>
          <a:p xmlns:a="http://schemas.openxmlformats.org/drawingml/2006/main">
            <a:r>
              <a:t>실습 파일: 03_실습프로젝트/prompts/03_Codex에_넣을_Gemini합류.md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G1 Gemini 비대화형 호출 https://geminicli.com/docs/cli/headless/</a:t>
            </a:r>
          </a:p>
          <a:p xmlns:a="http://schemas.openxmlformats.org/drawingml/2006/main">
            <a:r>
              <a:t>G2 Gemini CLI 옵션 https://geminicli.com/docs/cli/cli-reference/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19/28 같은 반론을 반복하지 않게 묻기</a:t>
            </a:r>
          </a:p>
          <a:p xmlns:a="http://schemas.openxmlformats.org/drawingml/2006/main">
            <a:r>
              <a:t>경과 80~85분 (5분)</a:t>
            </a:r>
          </a:p>
          <a:p xmlns:a="http://schemas.openxmlformats.org/drawingml/2006/main">
            <a:r>
              <a:t>진행·입력: 메시지 파일의 목적과 범위를 읽는다.</a:t>
            </a:r>
          </a:p>
          <a:p xmlns:a="http://schemas.openxmlformats.org/drawingml/2006/main">
            <a:r>
              <a:t>확인: 다른 모델을 부르는 이유를 설명한다.</a:t>
            </a:r>
          </a:p>
          <a:p xmlns:a="http://schemas.openxmlformats.org/drawingml/2006/main">
            <a:r>
              <a:t>막힐 때: 학생이 새 질문 한 줄을 직접 제안한다.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20/28 Codex가 두 회신을 비교하고 답하기</a:t>
            </a:r>
          </a:p>
          <a:p xmlns:a="http://schemas.openxmlformats.org/drawingml/2006/main">
            <a:r>
              <a:t>경과 85~90분 (5분)</a:t>
            </a:r>
          </a:p>
          <a:p xmlns:a="http://schemas.openxmlformats.org/drawingml/2006/main">
            <a:r>
              <a:t>진행·입력: 실제 Gemini 회신이 있을 때만 읽고 Codex가 답하게 한다.</a:t>
            </a:r>
          </a:p>
          <a:p xmlns:a="http://schemas.openxmlformats.org/drawingml/2006/main">
            <a:r>
              <a:t>확인: 미실행 회신을 모델 답변으로 제시하지 않는다.</a:t>
            </a:r>
          </a:p>
          <a:p xmlns:a="http://schemas.openxmlformats.org/drawingml/2006/main">
            <a:r>
              <a:t>막힐 때: 교육용 재생 문장으로 비교 연습만 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21/28 대화 기록은 이렇게 남습니다</a:t>
            </a:r>
          </a:p>
          <a:p xmlns:a="http://schemas.openxmlformats.org/drawingml/2006/main">
            <a:r>
              <a:t>경과 90~94분 (4분)</a:t>
            </a:r>
          </a:p>
          <a:p xmlns:a="http://schemas.openxmlformats.org/drawingml/2006/main">
            <a:r>
              <a:t>진행·입력: 한 턴 폴더와 transcript.md를 연다.</a:t>
            </a:r>
          </a:p>
          <a:p xmlns:a="http://schemas.openxmlformats.org/drawingml/2006/main">
            <a:r>
              <a:t>확인: session ID는 서비스 메타데이터이고 학생 신상은 넣지 않는다.</a:t>
            </a:r>
          </a:p>
          <a:p xmlns:a="http://schemas.openxmlformats.org/drawingml/2006/main">
            <a:r>
              <a:t>막힐 때: 이번에 기록한 실제대화 폴더를 보여준다.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22/28 언제 대화를 멈출까</a:t>
            </a:r>
          </a:p>
          <a:p xmlns:a="http://schemas.openxmlformats.org/drawingml/2006/main">
            <a:r>
              <a:t>경과 94~98분 (4분)</a:t>
            </a:r>
          </a:p>
          <a:p xmlns:a="http://schemas.openxmlformats.org/drawingml/2006/main">
            <a:r>
              <a:t>진행·입력: 현재 대화의 종료 이유를 Codex에게 한 문장으로 쓰게 한다.</a:t>
            </a:r>
          </a:p>
          <a:p xmlns:a="http://schemas.openxmlformats.org/drawingml/2006/main">
            <a:r>
              <a:t>확인: 무한히 토론시키는 명령을 주지 않는다.</a:t>
            </a:r>
          </a:p>
          <a:p xmlns:a="http://schemas.openxmlformats.org/drawingml/2006/main">
            <a:r>
              <a:t>막힐 때: 최대 6회 외부 호출 제한을 설명한다.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23/28 이 방식이 편리한 이유</a:t>
            </a:r>
          </a:p>
          <a:p xmlns:a="http://schemas.openxmlformats.org/drawingml/2006/main">
            <a:r>
              <a:t>경과 98~103분 (5분)</a:t>
            </a:r>
          </a:p>
          <a:p xmlns:a="http://schemas.openxmlformats.org/drawingml/2006/main">
            <a:r>
              <a:t>진행·입력: 한 번 받은 답과 두 왕복 뒤 달라진 문장을 비교한다.</a:t>
            </a:r>
          </a:p>
          <a:p xmlns:a="http://schemas.openxmlformats.org/drawingml/2006/main">
            <a:r>
              <a:t>확인: 시간 절약률·정확도 개선률을 지어내지 않는다.</a:t>
            </a:r>
          </a:p>
          <a:p xmlns:a="http://schemas.openxmlformats.org/drawingml/2006/main">
            <a:r>
              <a:t>막힐 때: 실제 기존 검토에서 바뀐 문장과 잘못된 반론을 함께 보여준다.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L1 앞선 실제 Codex Claude 검토 05_사례/기존_실제검토_요약.md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24/28 MCP는 연결 방법 중 하나입니다</a:t>
            </a:r>
          </a:p>
          <a:p xmlns:a="http://schemas.openxmlformats.org/drawingml/2006/main">
            <a:r>
              <a:t>경과 103~107분 (4분)</a:t>
            </a:r>
          </a:p>
          <a:p xmlns:a="http://schemas.openxmlformats.org/drawingml/2006/main">
            <a:r>
              <a:t>진행·입력: CLI 연결과 MCP 어댑터의 차이를 설명한다.</a:t>
            </a:r>
          </a:p>
          <a:p xmlns:a="http://schemas.openxmlformats.org/drawingml/2006/main">
            <a:r>
              <a:t>확인: 이번에 구현하지 않은 MCP를 연결했다고 하지 않는다.</a:t>
            </a:r>
          </a:p>
          <a:p xmlns:a="http://schemas.openxmlformats.org/drawingml/2006/main">
            <a:r>
              <a:t>막힐 때: 연결 안내 파일의 구조를 읽는다.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O1 Codex MCP 연결 https://developers.openai.com/codex/mcp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  <a:p xmlns:a="http://schemas.openxmlformats.org/drawingml/2006/main">
            <a:r>
              <a:t>G1 Gemini 비대화형 호출 https://geminicli.com/docs/cli/headless/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25/28 문서 MCP와 AI 대화 연결</a:t>
            </a:r>
          </a:p>
          <a:p xmlns:a="http://schemas.openxmlformats.org/drawingml/2006/main">
            <a:r>
              <a:t>경과 107~111분 (4분)</a:t>
            </a:r>
          </a:p>
          <a:p xmlns:a="http://schemas.openxmlformats.org/drawingml/2006/main">
            <a:r>
              <a:t>진행·입력: 공식 Docs MCP 문서를 보여준다. 등록 명령은 사전 준비용으로 설명한다.</a:t>
            </a:r>
          </a:p>
          <a:p xmlns:a="http://schemas.openxmlformats.org/drawingml/2006/main">
            <a:r>
              <a:t>확인: 문서 연결과 외부 모델 호출을 구분한다.</a:t>
            </a:r>
          </a:p>
          <a:p xmlns:a="http://schemas.openxmlformats.org/drawingml/2006/main">
            <a:r>
              <a:t>막힐 때: 공식 문서를 직접 연다.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O2 OpenAI 문서 MCP https://developers.openai.com/learn/docs-mcp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26/28 막혔을 때 확인할 것</a:t>
            </a:r>
          </a:p>
          <a:p xmlns:a="http://schemas.openxmlformats.org/drawingml/2006/main">
            <a:r>
              <a:t>경과 111~114분 (3분)</a:t>
            </a:r>
          </a:p>
          <a:p xmlns:a="http://schemas.openxmlformats.org/drawingml/2006/main">
            <a:r>
              <a:t>진행·입력: 메타데이터의 실패 상태와 재생 파일의 예시 표시를 보여준다.</a:t>
            </a:r>
          </a:p>
          <a:p xmlns:a="http://schemas.openxmlformats.org/drawingml/2006/main">
            <a:r>
              <a:t>확인: 재생을 신규 호출로 말하지 않는다.</a:t>
            </a:r>
          </a:p>
          <a:p xmlns:a="http://schemas.openxmlformats.org/drawingml/2006/main">
            <a:r>
              <a:t>막힐 때: 연결 과정을 설명하고 저장된 실제 사례를 읽는다.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27/28 내 과제로 대화 시작하기</a:t>
            </a:r>
          </a:p>
          <a:p xmlns:a="http://schemas.openxmlformats.org/drawingml/2006/main">
            <a:r>
              <a:t>경과 114~117분 (3분)</a:t>
            </a:r>
          </a:p>
          <a:p xmlns:a="http://schemas.openxmlformats.org/drawingml/2006/main">
            <a:r>
              <a:t>진행·입력: 04_내과제에_적용.md의 빈칸을 채우게 한다.</a:t>
            </a:r>
          </a:p>
          <a:p xmlns:a="http://schemas.openxmlformats.org/drawingml/2006/main">
            <a:r>
              <a:t>확인: 역할뿐 아니라 실제 호출과 전달을 명시한다.</a:t>
            </a:r>
          </a:p>
          <a:p xmlns:a="http://schemas.openxmlformats.org/drawingml/2006/main">
            <a:r>
              <a:t>막힐 때: 강사와 함께 한 문장만 작성한다.</a:t>
            </a:r>
          </a:p>
          <a:p xmlns:a="http://schemas.openxmlformats.org/drawingml/2006/main">
            <a:r>
              <a:t>실습 파일: 03_실습프로젝트/prompts/04_내과제에_적용.md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28/28 오늘의 완성 기준</a:t>
            </a:r>
          </a:p>
          <a:p xmlns:a="http://schemas.openxmlformats.org/drawingml/2006/main">
            <a:r>
              <a:t>경과 117~120분 (3분)</a:t>
            </a:r>
          </a:p>
          <a:p xmlns:a="http://schemas.openxmlformats.org/drawingml/2006/main">
            <a:r>
              <a:t>진행·입력: 실제 기록을 보고 연결·왕복·판단 세 항목을 확인한다.</a:t>
            </a:r>
          </a:p>
          <a:p xmlns:a="http://schemas.openxmlformats.org/drawingml/2006/main">
            <a:r>
              <a:t>확인: 한 번 호출만 했다면 왕복 대화 완료라고 하지 않는다.</a:t>
            </a:r>
          </a:p>
          <a:p xmlns:a="http://schemas.openxmlformats.org/drawingml/2006/main">
            <a:r>
              <a:t>막힐 때: 새 실행과 저장된 사례 중 어디까지 했는지 표시한다.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C1 Claude 프로그램 호출 https://code.claude.com/docs/en/headless</a:t>
            </a:r>
          </a:p>
          <a:p xmlns:a="http://schemas.openxmlformats.org/drawingml/2006/main">
            <a:r>
              <a:t>G1 Gemini 비대화형 호출 https://geminicli.com/docs/cli/headless/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485544f8e4c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d2ac5d5884e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38fa079ef44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a63df172640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32181172b49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b0a689f46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6D979C-FB39-4F9F-8B7C-A650052FD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D1D1FD-217F-49E1-BE7F-719946DCB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03A74D-86D1-4F1B-A730-D3E4B581D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0330C-53E0-45EA-BE9D-6577CCD8F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B3982B-A426-4192-B57B-E3F2CA6D8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C578CB-02DB-48AB-9F94-4B069A322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6D2ADC-37C4-4D15-9008-9C70C476D0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D91980-BD48-4F8E-AA87-E374615379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80F613-16E3-4F9E-A519-E71420D3F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643B45-896D-4084-A7C3-2DA09EF1AC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f2658a6e74462" /><Relationship Type="http://schemas.openxmlformats.org/officeDocument/2006/relationships/slideLayout" Target="/ppt/slideLayouts/slideLayout1.xml" Id="R0f7c6006b1584269" /><Relationship Type="http://schemas.openxmlformats.org/officeDocument/2006/relationships/slideLayout" Target="/ppt/slideLayouts/slideLayout2.xml" Id="R34451c35ff12499f" /><Relationship Type="http://schemas.openxmlformats.org/officeDocument/2006/relationships/slideLayout" Target="/ppt/slideLayouts/slideLayout3.xml" Id="R2e7bd0e273ca42b0" /><Relationship Type="http://schemas.openxmlformats.org/officeDocument/2006/relationships/slideLayout" Target="/ppt/slideLayouts/slideLayout4.xml" Id="Rc45133b21c504455" /><Relationship Type="http://schemas.openxmlformats.org/officeDocument/2006/relationships/slideLayout" Target="/ppt/slideLayouts/slideLayout5.xml" Id="R8e5d50e2b8d345ca" /><Relationship Type="http://schemas.openxmlformats.org/officeDocument/2006/relationships/slideLayout" Target="/ppt/slideLayouts/slideLayout6.xml" Id="Rc47ece8cbf6a4f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c6006b1584269"/>
    <p:sldLayoutId xmlns:r="http://schemas.openxmlformats.org/officeDocument/2006/relationships" id="2147483650" r:id="R34451c35ff12499f"/>
    <p:sldLayoutId xmlns:r="http://schemas.openxmlformats.org/officeDocument/2006/relationships" id="2147483651" r:id="R2e7bd0e273ca42b0"/>
    <p:sldLayoutId xmlns:r="http://schemas.openxmlformats.org/officeDocument/2006/relationships" id="2147483652" r:id="Rc45133b21c504455"/>
    <p:sldLayoutId xmlns:r="http://schemas.openxmlformats.org/officeDocument/2006/relationships" id="2147483653" r:id="R8e5d50e2b8d345ca"/>
    <p:sldLayoutId xmlns:r="http://schemas.openxmlformats.org/officeDocument/2006/relationships" id="2147483654" r:id="Rc47ece8cbf6a4f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91080b21c41ae" /><Relationship Type="http://schemas.openxmlformats.org/officeDocument/2006/relationships/image" Target="/ppt/media/image.png" Id="R4dba54ade2ec44a1" /><Relationship Type="http://schemas.openxmlformats.org/officeDocument/2006/relationships/notesSlide" Target="/ppt/notesSlides/notesSlide1.xml" Id="R5dcdfebc338c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b49fe77c8422a" /><Relationship Type="http://schemas.openxmlformats.org/officeDocument/2006/relationships/image" Target="/ppt/media/image2.png" Id="Ra912a634b6d342a2" /><Relationship Type="http://schemas.openxmlformats.org/officeDocument/2006/relationships/notesSlide" Target="/ppt/notesSlides/notesSlide2.xml" Id="Ra1b2b849b0c34c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dc9511ad3410e" /><Relationship Type="http://schemas.openxmlformats.org/officeDocument/2006/relationships/image" Target="/ppt/media/image3.png" Id="R68538586346b4774" /><Relationship Type="http://schemas.openxmlformats.org/officeDocument/2006/relationships/notesSlide" Target="/ppt/notesSlides/notesSlide3.xml" Id="R246b23ccd59344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76ccfca1845ac" /><Relationship Type="http://schemas.openxmlformats.org/officeDocument/2006/relationships/image" Target="/ppt/media/image4.png" Id="R7317602051f54b04" /><Relationship Type="http://schemas.openxmlformats.org/officeDocument/2006/relationships/notesSlide" Target="/ppt/notesSlides/notesSlide4.xml" Id="R4b046befc6ec48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659f69b4d4486" /><Relationship Type="http://schemas.openxmlformats.org/officeDocument/2006/relationships/image" Target="/ppt/media/image5.png" Id="Rfbac61efe6404f85" /><Relationship Type="http://schemas.openxmlformats.org/officeDocument/2006/relationships/notesSlide" Target="/ppt/notesSlides/notesSlide5.xml" Id="R7ebaeb29e4a34c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8934526794af6" /><Relationship Type="http://schemas.openxmlformats.org/officeDocument/2006/relationships/image" Target="/ppt/media/image6.png" Id="Re2aca0a68e3a4229" /><Relationship Type="http://schemas.openxmlformats.org/officeDocument/2006/relationships/notesSlide" Target="/ppt/notesSlides/notesSlide6.xml" Id="Rd8602860bdb240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e051d09074080" /><Relationship Type="http://schemas.openxmlformats.org/officeDocument/2006/relationships/image" Target="/ppt/media/image7.png" Id="Rb7f9c778c9424c1a" /><Relationship Type="http://schemas.openxmlformats.org/officeDocument/2006/relationships/notesSlide" Target="/ppt/notesSlides/notesSlide7.xml" Id="R0f42381fdff4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d616de5af40f8" /><Relationship Type="http://schemas.openxmlformats.org/officeDocument/2006/relationships/image" Target="/ppt/media/image8.png" Id="R9155da69cfd54a9e" /><Relationship Type="http://schemas.openxmlformats.org/officeDocument/2006/relationships/notesSlide" Target="/ppt/notesSlides/notesSlide8.xml" Id="R968d3b265edd49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6f374ba0e4b01" /><Relationship Type="http://schemas.openxmlformats.org/officeDocument/2006/relationships/image" Target="/ppt/media/image9.png" Id="Rafc937c2bb0a4c72" /><Relationship Type="http://schemas.openxmlformats.org/officeDocument/2006/relationships/notesSlide" Target="/ppt/notesSlides/notesSlide9.xml" Id="R6f81671218d84a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f45b67f014730" /><Relationship Type="http://schemas.openxmlformats.org/officeDocument/2006/relationships/image" Target="/ppt/media/image10.png" Id="R1c09c36cb3e547b6" /><Relationship Type="http://schemas.openxmlformats.org/officeDocument/2006/relationships/notesSlide" Target="/ppt/notesSlides/notesSlide10.xml" Id="R9468914f9fac4b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f4e07c9b34397" /><Relationship Type="http://schemas.openxmlformats.org/officeDocument/2006/relationships/image" Target="/ppt/media/image11.png" Id="R709ecfde92b34fc8" /><Relationship Type="http://schemas.openxmlformats.org/officeDocument/2006/relationships/notesSlide" Target="/ppt/notesSlides/notesSlide11.xml" Id="Rfb5d4370c52049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49a9e52ee42a0" /><Relationship Type="http://schemas.openxmlformats.org/officeDocument/2006/relationships/image" Target="/ppt/media/image12.png" Id="R70ea1e75eba74fd3" /><Relationship Type="http://schemas.openxmlformats.org/officeDocument/2006/relationships/notesSlide" Target="/ppt/notesSlides/notesSlide12.xml" Id="Rb61755119f1143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e5f57ae104e7f" /><Relationship Type="http://schemas.openxmlformats.org/officeDocument/2006/relationships/image" Target="/ppt/media/image13.png" Id="R4e7679ba2cbd460e" /><Relationship Type="http://schemas.openxmlformats.org/officeDocument/2006/relationships/notesSlide" Target="/ppt/notesSlides/notesSlide13.xml" Id="Rb0a56d781af542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40463100549d1" /><Relationship Type="http://schemas.openxmlformats.org/officeDocument/2006/relationships/image" Target="/ppt/media/image14.png" Id="Rf5491e85412c42da" /><Relationship Type="http://schemas.openxmlformats.org/officeDocument/2006/relationships/notesSlide" Target="/ppt/notesSlides/notesSlide14.xml" Id="R1bbdeee5c5da47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cb359c2e04095" /><Relationship Type="http://schemas.openxmlformats.org/officeDocument/2006/relationships/image" Target="/ppt/media/image15.png" Id="R5e5458cfafef4c72" /><Relationship Type="http://schemas.openxmlformats.org/officeDocument/2006/relationships/notesSlide" Target="/ppt/notesSlides/notesSlide15.xml" Id="R7ac28ed2721c48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a76793c064478" /><Relationship Type="http://schemas.openxmlformats.org/officeDocument/2006/relationships/notesSlide" Target="/ppt/notesSlides/notesSlide16.xml" Id="R20f765cf07c341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4f97737154154" /><Relationship Type="http://schemas.openxmlformats.org/officeDocument/2006/relationships/image" Target="/ppt/media/image16.png" Id="R52da55a81b4e4d5c" /><Relationship Type="http://schemas.openxmlformats.org/officeDocument/2006/relationships/notesSlide" Target="/ppt/notesSlides/notesSlide17.xml" Id="Rfdd0933de72a4f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931ca98ae433f" /><Relationship Type="http://schemas.openxmlformats.org/officeDocument/2006/relationships/image" Target="/ppt/media/image17.png" Id="R9372f5213e104ff7" /><Relationship Type="http://schemas.openxmlformats.org/officeDocument/2006/relationships/notesSlide" Target="/ppt/notesSlides/notesSlide18.xml" Id="Rb0ccbf35a98e4f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aa1fde14c48ca" /><Relationship Type="http://schemas.openxmlformats.org/officeDocument/2006/relationships/image" Target="/ppt/media/image18.png" Id="Rd2cd2bb89f1943a5" /><Relationship Type="http://schemas.openxmlformats.org/officeDocument/2006/relationships/notesSlide" Target="/ppt/notesSlides/notesSlide19.xml" Id="R8a6b77a6df5e4e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d81cdb6974e29" /><Relationship Type="http://schemas.openxmlformats.org/officeDocument/2006/relationships/image" Target="/ppt/media/image19.png" Id="R3133b1f51b7d4ce8" /><Relationship Type="http://schemas.openxmlformats.org/officeDocument/2006/relationships/notesSlide" Target="/ppt/notesSlides/notesSlide20.xml" Id="R3326758b8d2943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afaf056ae4080" /><Relationship Type="http://schemas.openxmlformats.org/officeDocument/2006/relationships/image" Target="/ppt/media/image20.png" Id="R14df46f1879b472c" /><Relationship Type="http://schemas.openxmlformats.org/officeDocument/2006/relationships/notesSlide" Target="/ppt/notesSlides/notesSlide21.xml" Id="R5cbe7f12e33b41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f46326fd74dcb" /><Relationship Type="http://schemas.openxmlformats.org/officeDocument/2006/relationships/image" Target="/ppt/media/image21.png" Id="Rd4b46ddba7dc43f8" /><Relationship Type="http://schemas.openxmlformats.org/officeDocument/2006/relationships/notesSlide" Target="/ppt/notesSlides/notesSlide22.xml" Id="R7745069db3a249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2e6160cd049bf" /><Relationship Type="http://schemas.openxmlformats.org/officeDocument/2006/relationships/image" Target="/ppt/media/image22.png" Id="R16bdd56eda574194" /><Relationship Type="http://schemas.openxmlformats.org/officeDocument/2006/relationships/notesSlide" Target="/ppt/notesSlides/notesSlide23.xml" Id="R1c4404f4784143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2d07fea124f0e" /><Relationship Type="http://schemas.openxmlformats.org/officeDocument/2006/relationships/image" Target="/ppt/media/image23.png" Id="R9cfe921f4ab6461a" /><Relationship Type="http://schemas.openxmlformats.org/officeDocument/2006/relationships/notesSlide" Target="/ppt/notesSlides/notesSlide24.xml" Id="R05dc3c6a8c8042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d036284584f94" /><Relationship Type="http://schemas.openxmlformats.org/officeDocument/2006/relationships/image" Target="/ppt/media/image24.png" Id="Ra677baef281144a1" /><Relationship Type="http://schemas.openxmlformats.org/officeDocument/2006/relationships/notesSlide" Target="/ppt/notesSlides/notesSlide25.xml" Id="R0bbc2cb80a7947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059b336c14203" /><Relationship Type="http://schemas.openxmlformats.org/officeDocument/2006/relationships/image" Target="/ppt/media/image25.png" Id="R0f77b64a05b24fa9" /><Relationship Type="http://schemas.openxmlformats.org/officeDocument/2006/relationships/notesSlide" Target="/ppt/notesSlides/notesSlide26.xml" Id="R842ef7e6eec848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a37c51c85b4bf2" /><Relationship Type="http://schemas.openxmlformats.org/officeDocument/2006/relationships/image" Target="/ppt/media/image26.png" Id="R08b41e34cac349b5" /><Relationship Type="http://schemas.openxmlformats.org/officeDocument/2006/relationships/notesSlide" Target="/ppt/notesSlides/notesSlide27.xml" Id="R405005abfa934d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fbfb33ba04a7b" /><Relationship Type="http://schemas.openxmlformats.org/officeDocument/2006/relationships/image" Target="/ppt/media/image27.png" Id="Rdc727d70cf31442c" /><Relationship Type="http://schemas.openxmlformats.org/officeDocument/2006/relationships/notesSlide" Target="/ppt/notesSlides/notesSlide28.xml" Id="Rc4f904cdf5c643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39CDB-AC0E-46F0-9539-C6B416459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a54ade2ec44a1"/>
          <a:stretch xmlns:a="http://schemas.openxmlformats.org/drawingml/2006/main"/>
        </p:blipFill>
        <p:spPr>
          <a:xfrm xmlns:a="http://schemas.openxmlformats.org/drawingml/2006/main">
            <a:off x="685800" y="497965"/>
            <a:ext cx="2552700" cy="489970"/>
          </a:xfrm>
          <a:prstGeom xmlns:a="http://schemas.openxmlformats.org/drawingml/2006/main" prst="rect">
            <a:avLst/>
          </a:prstGeom>
        </p:spPr>
      </p:pic>
      <p:sp>
        <p:nvSpPr>
          <p:cNvPr id="2" name="cover-label">
            <a:extLst xmlns:a="http://schemas.openxmlformats.org/drawingml/2006/main">
              <a:ext uri="{FF2B5EF4-FFF2-40B4-BE49-F238E27FC236}">
                <a16:creationId xmlns:a16="http://schemas.microsoft.com/office/drawing/2014/main" id="{64A1FBB0-E062-4D89-879E-08238D6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ATTENTION 추가 특강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FED2FA-7DDE-4BBB-A0FF-40B1473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Codex가 Claude와 Gemini를</a:t>
            </a:r>
          </a:p>
          <a:p xmlns:a="http://schemas.openxmlformats.org/drawingml/2006/main">
            <a:pPr algn="l">
              <a:def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4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불러 대화하게 하기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3ED3F5CF-61B3-41EA-AF9B-EAA1F964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ATTENTION 추가 특강 · 2시간 핵심 시연형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F71E9747-877A-4107-8DBD-ECB47F9F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Codex가 질문하고, 회신을 읽고, 다시 답합니다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7CFDFD4F-4233-45D9-A95A-E1901E73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76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4597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7538A-0071-4F47-8018-E737428F9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2a634b6d342a2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58C50DC-D4B4-4022-8A08-05F6313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7F64F-C9B8-40C8-B331-1023AFBC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오늘 보여줄 장면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A94776F-7D8F-4A8B-9B49-8C229A59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Codex 질문 → Claude 반론 → Codex 답변 → Claude 재답변</a:t>
            </a:r>
          </a:p>
        </p:txBody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6AA652D0-7745-4430-8A67-E5D6FB35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5193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0"/>
          </a:solidFill>
          <a:ln xmlns:a="http://schemas.openxmlformats.org/drawingml/2006/main" w="0">
            <a:noFill/>
          </a:ln>
        </p:spPr>
      </p:sp>
      <p:sp>
        <p:nvSpPr>
          <p:cNvPr id="6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6DE37BCB-192C-4DB9-89D4-F0563C6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23669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 질문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5C330BC3-8AF8-4057-A8C6-20E8DFE4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65A5D81B-702C-4E56-ADCF-A0CA614D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57525"/>
            <a:ext cx="25193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457A02A-BE42-42AD-85DE-D25E6AD7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3209925"/>
            <a:ext cx="23669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 반론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371C882F-432B-4D94-8F20-0286DE8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E9B44DA6-36BF-4AEF-AFCB-01D8937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57525"/>
            <a:ext cx="25193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12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CDBBC74-DDA2-4CF6-9566-2100CAEE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9925"/>
            <a:ext cx="23669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 답변</a:t>
            </a:r>
          </a:p>
        </p:txBody>
      </p:sp>
      <p:sp>
        <p:nvSpPr>
          <p:cNvPr id="13" name="arrow-2">
            <a:extLst xmlns:a="http://schemas.openxmlformats.org/drawingml/2006/main">
              <a:ext uri="{FF2B5EF4-FFF2-40B4-BE49-F238E27FC236}">
                <a16:creationId xmlns:a16="http://schemas.microsoft.com/office/drawing/2014/main" id="{83F35E59-6DD4-499C-AD15-5BC4AFC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0EF60E85-4305-4E98-91D9-1465FE7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3057525"/>
            <a:ext cx="25193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1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CE3B472-076C-4DC9-AB59-735E58A4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3209925"/>
            <a:ext cx="23669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 재답변</a:t>
            </a:r>
          </a:p>
        </p:txBody>
      </p:sp>
      <p:sp>
        <p:nvSpPr>
          <p:cNvPr id="16" name="mark-0">
            <a:extLst xmlns:a="http://schemas.openxmlformats.org/drawingml/2006/main">
              <a:ext uri="{FF2B5EF4-FFF2-40B4-BE49-F238E27FC236}">
                <a16:creationId xmlns:a16="http://schemas.microsoft.com/office/drawing/2014/main" id="{B05F72B0-B80A-4A6C-AADA-32A129D4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7" name="body-0">
            <a:extLst xmlns:a="http://schemas.openxmlformats.org/drawingml/2006/main">
              <a:ext uri="{FF2B5EF4-FFF2-40B4-BE49-F238E27FC236}">
                <a16:creationId xmlns:a16="http://schemas.microsoft.com/office/drawing/2014/main" id="{4A576BF2-D5F0-400F-B9BF-ECD82D3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답변을 다시 전달하며 두 왕복을 이어갑니다</a:t>
            </a:r>
          </a:p>
        </p:txBody>
      </p:sp>
      <p:sp>
        <p:nvSpPr>
          <p:cNvPr id="18" name="mark-1">
            <a:extLst xmlns:a="http://schemas.openxmlformats.org/drawingml/2006/main">
              <a:ext uri="{FF2B5EF4-FFF2-40B4-BE49-F238E27FC236}">
                <a16:creationId xmlns:a16="http://schemas.microsoft.com/office/drawing/2014/main" id="{B35026EF-5FA2-4B3E-A6F7-55B8E44F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9" name="body-1">
            <a:extLst xmlns:a="http://schemas.openxmlformats.org/drawingml/2006/main">
              <a:ext uri="{FF2B5EF4-FFF2-40B4-BE49-F238E27FC236}">
                <a16:creationId xmlns:a16="http://schemas.microsoft.com/office/drawing/2014/main" id="{191EA968-27FF-4B4F-9893-1B47FF5C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Gemini가 앞선 대화를 읽고 합류합니다</a:t>
            </a:r>
          </a:p>
        </p:txBody>
      </p:sp>
      <p:sp>
        <p:nvSpPr>
          <p:cNvPr id="20" name="mark-2">
            <a:extLst xmlns:a="http://schemas.openxmlformats.org/drawingml/2006/main">
              <a:ext uri="{FF2B5EF4-FFF2-40B4-BE49-F238E27FC236}">
                <a16:creationId xmlns:a16="http://schemas.microsoft.com/office/drawing/2014/main" id="{042DD001-0293-412C-AC50-620B358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97757935-8366-4F82-A4F4-3027807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회사 분석은 이 대화의 연습 소재입니다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656AD806-2565-4619-91CC-F4A2C35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1978948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4D2E9-E517-45E4-8279-73D855D5D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38586346b4774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4850124-D1FC-4738-B661-710F6840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44BB9E-1EE9-48CF-B26E-FB024CEE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누가 대화를 진행할까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F902BE8-9D57-4ADD-821D-70DF952C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외부 AI의 답을 Codex가 받아 다음 말을 만듭니다</a:t>
            </a:r>
          </a:p>
        </p:txBody>
      </p:sp>
      <p:sp>
        <p:nvSpPr>
          <p:cNvPr id="5" name="col-rule-0">
            <a:extLst xmlns:a="http://schemas.openxmlformats.org/drawingml/2006/main">
              <a:ext uri="{FF2B5EF4-FFF2-40B4-BE49-F238E27FC236}">
                <a16:creationId xmlns:a16="http://schemas.microsoft.com/office/drawing/2014/main" id="{13CE648B-0DC0-4F07-BBF0-30271D87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col-title-0">
            <a:extLst xmlns:a="http://schemas.openxmlformats.org/drawingml/2006/main">
              <a:ext uri="{FF2B5EF4-FFF2-40B4-BE49-F238E27FC236}">
                <a16:creationId xmlns:a16="http://schemas.microsoft.com/office/drawing/2014/main" id="{D29DBE5F-3774-4047-9A0D-0BEDD7B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</a:t>
            </a:r>
          </a:p>
        </p:txBody>
      </p:sp>
      <p:sp>
        <p:nvSpPr>
          <p:cNvPr id="7" name="col-body-0">
            <a:extLst xmlns:a="http://schemas.openxmlformats.org/drawingml/2006/main">
              <a:ext uri="{FF2B5EF4-FFF2-40B4-BE49-F238E27FC236}">
                <a16:creationId xmlns:a16="http://schemas.microsoft.com/office/drawing/2014/main" id="{CD632640-56CD-45F3-B04F-FBAAC25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질문·반박 작성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호출·기록·종료 결정</a:t>
            </a:r>
          </a:p>
        </p:txBody>
      </p:sp>
      <p:sp>
        <p:nvSpPr>
          <p:cNvPr id="8" name="col-rule-1">
            <a:extLst xmlns:a="http://schemas.openxmlformats.org/drawingml/2006/main">
              <a:ext uri="{FF2B5EF4-FFF2-40B4-BE49-F238E27FC236}">
                <a16:creationId xmlns:a16="http://schemas.microsoft.com/office/drawing/2014/main" id="{643E755C-39D8-4FE8-9A78-6E5E4381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col-title-1">
            <a:extLst xmlns:a="http://schemas.openxmlformats.org/drawingml/2006/main">
              <a:ext uri="{FF2B5EF4-FFF2-40B4-BE49-F238E27FC236}">
                <a16:creationId xmlns:a16="http://schemas.microsoft.com/office/drawing/2014/main" id="{9A1B57AE-62C2-4ED6-A44E-F7DEEAE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Claude·Gemini</a:t>
            </a:r>
          </a:p>
        </p:txBody>
      </p:sp>
      <p:sp>
        <p:nvSpPr>
          <p:cNvPr id="10" name="col-body-1">
            <a:extLst xmlns:a="http://schemas.openxmlformats.org/drawingml/2006/main">
              <a:ext uri="{FF2B5EF4-FFF2-40B4-BE49-F238E27FC236}">
                <a16:creationId xmlns:a16="http://schemas.microsoft.com/office/drawing/2014/main" id="{412E9AF0-BC48-4905-BBA9-122A1C9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받은 자료로 실제 회신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서로의 답변 검토</a:t>
            </a:r>
          </a:p>
        </p:txBody>
      </p:sp>
      <p:sp>
        <p:nvSpPr>
          <p:cNvPr id="11" name="col-rule-2">
            <a:extLst xmlns:a="http://schemas.openxmlformats.org/drawingml/2006/main">
              <a:ext uri="{FF2B5EF4-FFF2-40B4-BE49-F238E27FC236}">
                <a16:creationId xmlns:a16="http://schemas.microsoft.com/office/drawing/2014/main" id="{45A1FA1E-8B07-467E-B77A-706189D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2" name="col-title-2">
            <a:extLst xmlns:a="http://schemas.openxmlformats.org/drawingml/2006/main">
              <a:ext uri="{FF2B5EF4-FFF2-40B4-BE49-F238E27FC236}">
                <a16:creationId xmlns:a16="http://schemas.microsoft.com/office/drawing/2014/main" id="{6A40CA63-FB13-46B0-A27A-F049302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사람</a:t>
            </a:r>
          </a:p>
        </p:txBody>
      </p:sp>
      <p:sp>
        <p:nvSpPr>
          <p:cNvPr id="13" name="col-body-2">
            <a:extLst xmlns:a="http://schemas.openxmlformats.org/drawingml/2006/main">
              <a:ext uri="{FF2B5EF4-FFF2-40B4-BE49-F238E27FC236}">
                <a16:creationId xmlns:a16="http://schemas.microsoft.com/office/drawing/2014/main" id="{E0DB70E5-C55B-4C4D-8E71-3826C24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주제·전송 범위 결정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최종 판단·사용 결정</a:t>
            </a:r>
          </a:p>
        </p:txBody>
      </p:sp>
      <p:sp>
        <p:nvSpPr>
          <p:cNvPr id="14" name="columns-note">
            <a:extLst xmlns:a="http://schemas.openxmlformats.org/drawingml/2006/main">
              <a:ext uri="{FF2B5EF4-FFF2-40B4-BE49-F238E27FC236}">
                <a16:creationId xmlns:a16="http://schemas.microsoft.com/office/drawing/2014/main" id="{FFE7E523-CADD-474E-AE2E-14B342D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역할은 수업 설계이며 모델 성능 순위가 아닙니다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B830BDE7-BB06-4FF0-A14C-50A426AC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03 / 28</a:t>
            </a:r>
          </a:p>
        </p:txBody>
      </p:sp>
      <p:sp>
        <p:nvSpPr>
          <p:cNvPr id="16" name="source-ids">
            <a:extLst xmlns:a="http://schemas.openxmlformats.org/drawingml/2006/main">
              <a:ext uri="{FF2B5EF4-FFF2-40B4-BE49-F238E27FC236}">
                <a16:creationId xmlns:a16="http://schemas.microsoft.com/office/drawing/2014/main" id="{FDA317B5-DDD1-4431-B007-B7D43B00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 · G1</a:t>
            </a:r>
          </a:p>
        </p:txBody>
      </p:sp>
    </p:spTree>
    <p:extLst>
      <p:ext uri="{BB962C8B-B14F-4D97-AF65-F5344CB8AC3E}">
        <p14:creationId xmlns:p14="http://schemas.microsoft.com/office/powerpoint/2010/main" val="71094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C68E6-4B86-4C12-A75E-E8015202A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7602051f54b04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993109E-B354-4791-89BF-1D2C3185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B81091-4739-4C9E-9139-9CFE2DDB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연결의 실제 경로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6DDA025-8FF2-4801-A4ED-21755D1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Codex → 셸 도구 → 전달 프로그램 → 외부 CLI → 회신 파일</a:t>
            </a:r>
          </a:p>
        </p:txBody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B9C9FCB4-6E41-448F-8E15-A4DD10D8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96596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0"/>
          </a:solidFill>
          <a:ln xmlns:a="http://schemas.openxmlformats.org/drawingml/2006/main" w="0">
            <a:noFill/>
          </a:ln>
        </p:spPr>
      </p:sp>
      <p:sp>
        <p:nvSpPr>
          <p:cNvPr id="6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68558CFD-758F-4C1A-A1FD-6B16A7DD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8135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520B888-FAF5-4C85-89A6-3329002D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10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E171D24C-7B64-443C-BCD0-AAF13933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3057525"/>
            <a:ext cx="196596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462C772-87E7-412C-992A-872A0D8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3209925"/>
            <a:ext cx="18135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셸 도구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EA9B680F-5CED-4C16-96C9-79B1267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2D37EE48-C70E-41E9-B492-32F5E1F7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3057525"/>
            <a:ext cx="196596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12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8113948-7B53-4CB9-B0C0-0F3ED17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209925"/>
            <a:ext cx="18135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전달 프로그램</a:t>
            </a:r>
          </a:p>
        </p:txBody>
      </p:sp>
      <p:sp>
        <p:nvSpPr>
          <p:cNvPr id="13" name="arrow-2">
            <a:extLst xmlns:a="http://schemas.openxmlformats.org/drawingml/2006/main">
              <a:ext uri="{FF2B5EF4-FFF2-40B4-BE49-F238E27FC236}">
                <a16:creationId xmlns:a16="http://schemas.microsoft.com/office/drawing/2014/main" id="{BD2958AF-38EE-4482-A709-D0945EA4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F39699CC-6CD9-432F-9269-0294B193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057525"/>
            <a:ext cx="196596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1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944F3352-838A-4A57-9172-095A24F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209925"/>
            <a:ext cx="18135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외부 CLI</a:t>
            </a:r>
          </a:p>
        </p:txBody>
      </p:sp>
      <p:sp>
        <p:nvSpPr>
          <p:cNvPr id="16" name="arrow-3">
            <a:extLst xmlns:a="http://schemas.openxmlformats.org/drawingml/2006/main">
              <a:ext uri="{FF2B5EF4-FFF2-40B4-BE49-F238E27FC236}">
                <a16:creationId xmlns:a16="http://schemas.microsoft.com/office/drawing/2014/main" id="{6E08AB99-C539-4F91-90D6-B8859CC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3267075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7070A7C8-903D-4EF3-8B0B-6E3F39B4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3057525"/>
            <a:ext cx="196596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18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580FD4E9-BAB2-4A4F-9956-11F6398D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209925"/>
            <a:ext cx="18135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회신 파일</a:t>
            </a:r>
          </a:p>
        </p:txBody>
      </p:sp>
      <p:sp>
        <p:nvSpPr>
          <p:cNvPr id="19" name="mark-0">
            <a:extLst xmlns:a="http://schemas.openxmlformats.org/drawingml/2006/main">
              <a:ext uri="{FF2B5EF4-FFF2-40B4-BE49-F238E27FC236}">
                <a16:creationId xmlns:a16="http://schemas.microsoft.com/office/drawing/2014/main" id="{5EC1DAD9-360C-4F3B-B007-53FD45FB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60FBDFE8-A684-4FB5-8DA1-3101137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relay.py는 메시지를 전달하고 기록합니다</a:t>
            </a:r>
          </a:p>
        </p:txBody>
      </p:sp>
      <p:sp>
        <p:nvSpPr>
          <p:cNvPr id="21" name="mark-1">
            <a:extLst xmlns:a="http://schemas.openxmlformats.org/drawingml/2006/main">
              <a:ext uri="{FF2B5EF4-FFF2-40B4-BE49-F238E27FC236}">
                <a16:creationId xmlns:a16="http://schemas.microsoft.com/office/drawing/2014/main" id="{2D9E9BC3-A7E2-4E51-9FF9-DB301E3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22" name="body-1">
            <a:extLst xmlns:a="http://schemas.openxmlformats.org/drawingml/2006/main">
              <a:ext uri="{FF2B5EF4-FFF2-40B4-BE49-F238E27FC236}">
                <a16:creationId xmlns:a16="http://schemas.microsoft.com/office/drawing/2014/main" id="{6F91CB5F-88E0-436E-94A1-A3087038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다음 발언은 Codex가 실제 회신을 읽고 작성합니다</a:t>
            </a:r>
          </a:p>
        </p:txBody>
      </p:sp>
      <p:sp>
        <p:nvSpPr>
          <p:cNvPr id="23" name="mark-2">
            <a:extLst xmlns:a="http://schemas.openxmlformats.org/drawingml/2006/main">
              <a:ext uri="{FF2B5EF4-FFF2-40B4-BE49-F238E27FC236}">
                <a16:creationId xmlns:a16="http://schemas.microsoft.com/office/drawing/2014/main" id="{AAEB3F40-54F4-401D-A073-A8AB34FE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24" name="body-2">
            <a:extLst xmlns:a="http://schemas.openxmlformats.org/drawingml/2006/main">
              <a:ext uri="{FF2B5EF4-FFF2-40B4-BE49-F238E27FC236}">
                <a16:creationId xmlns:a16="http://schemas.microsoft.com/office/drawing/2014/main" id="{3940A9DD-437F-47C6-B230-7A903BFF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설치만으로 자동 대화가 시작되지는 않습니다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FEEA255F-67E3-41BD-8163-CF4BAFAA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04 / 28</a:t>
            </a:r>
          </a:p>
        </p:txBody>
      </p:sp>
      <p:sp>
        <p:nvSpPr>
          <p:cNvPr id="26" name="source-ids">
            <a:extLst xmlns:a="http://schemas.openxmlformats.org/drawingml/2006/main">
              <a:ext uri="{FF2B5EF4-FFF2-40B4-BE49-F238E27FC236}">
                <a16:creationId xmlns:a16="http://schemas.microsoft.com/office/drawing/2014/main" id="{EFA764EC-9C2C-4906-8C75-A130B237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 · G1</a:t>
            </a:r>
          </a:p>
        </p:txBody>
      </p:sp>
    </p:spTree>
    <p:extLst>
      <p:ext uri="{BB962C8B-B14F-4D97-AF65-F5344CB8AC3E}">
        <p14:creationId xmlns:p14="http://schemas.microsoft.com/office/powerpoint/2010/main" val="826056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5C901-C575-45D1-978D-A2A41EC77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c61efe6404f85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3D9C66F-ECC0-47C3-AA8C-0E5236DD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333247-4DE0-46E0-A829-47BA265C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수업 전에 준비할 프로그램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F2E6DCE-86F5-45FA-8320-4C0122A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강사 환경을 먼저 준비하고 학생은 흐름을 따라갑니다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C88F0-F5FF-40B4-8E79-63DBDD860156}"/>
              </a:ext>
            </a:extLst>
          </p:cNvPr>
          <p:cNvGraphicFramePr/>
          <p:nvPr/>
        </p:nvGraphicFramePr>
        <p:xfrm>
          <a:off xmlns:a="http://schemas.openxmlformats.org/drawingml/2006/main" x="685800" y="28003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프로그램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사용할 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Codex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대화를 진행하는 메인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Claude Code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왕복 대화 상대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Gemini CLI · Node 20+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 번째 관점 합류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Python 3.10+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전달과 기록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D604772-2D52-4C30-8BC5-6D1F6444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05 / 28</a:t>
            </a:r>
          </a:p>
        </p:txBody>
      </p:sp>
      <p:sp>
        <p:nvSpPr>
          <p:cNvPr id="7" name="source-ids">
            <a:extLst xmlns:a="http://schemas.openxmlformats.org/drawingml/2006/main">
              <a:ext uri="{FF2B5EF4-FFF2-40B4-BE49-F238E27FC236}">
                <a16:creationId xmlns:a16="http://schemas.microsoft.com/office/drawing/2014/main" id="{2CCD757B-D026-49B4-8289-08629D1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C3 · G3 · G4</a:t>
            </a:r>
          </a:p>
        </p:txBody>
      </p:sp>
    </p:spTree>
    <p:extLst>
      <p:ext uri="{BB962C8B-B14F-4D97-AF65-F5344CB8AC3E}">
        <p14:creationId xmlns:p14="http://schemas.microsoft.com/office/powerpoint/2010/main" val="933955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9DE3A-1BCA-468B-8E7D-A06EF6698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ca0a68e3a4229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1D23E8A-326E-47CB-B801-517A10B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781045-1586-4D74-8A6E-504BF0B8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 설치와 본인 로그인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EC5724A-2CB5-4B2F-8D9C-9DDCB34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설치·로그인·응답 확인은 서로 다른 단계입니다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0B0C946-074E-467E-B4E4-8D890E8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A325CBAA-768E-40E7-99C4-56A12E59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 --version</a:t>
            </a:r>
          </a:p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 auth login --claudeai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A0CEC7D0-8063-408C-BF35-082DA518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공식 설치 링크는 연결 안내 파일에 있습니다</a:t>
            </a:r>
          </a:p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개인 인증 화면은 수업 화면 공유 전에 마칩니다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0B9118E7-A383-4F9E-8FD3-A570DA5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06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698278C0-08AD-4AE6-ABA5-35DF0F1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C3</a:t>
            </a:r>
          </a:p>
        </p:txBody>
      </p:sp>
    </p:spTree>
    <p:extLst>
      <p:ext uri="{BB962C8B-B14F-4D97-AF65-F5344CB8AC3E}">
        <p14:creationId xmlns:p14="http://schemas.microsoft.com/office/powerpoint/2010/main" val="1834553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56671-0EAF-4B81-B505-E4D596E8BA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9c778c9424c1a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2626DBB-4042-443B-8A6C-44D3F0E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EB4E97-1B4F-4A9E-A57C-AC420FB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Codex에게 넣을 첫 지시문</a:t>
            </a:r>
          </a:p>
        </p:txBody>
      </p:sp>
      <p:sp>
        <p:nvSpPr>
          <p:cNvPr id="4" name="quote-line">
            <a:extLst xmlns:a="http://schemas.openxmlformats.org/drawingml/2006/main">
              <a:ext uri="{FF2B5EF4-FFF2-40B4-BE49-F238E27FC236}">
                <a16:creationId xmlns:a16="http://schemas.microsoft.com/office/drawing/2014/main" id="{FC86790F-2311-4FCE-A01F-B03BDCBB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A49D6064-4E56-4395-824E-E1E4CDB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1033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“실제 Claude를 호출하고, 회신을 읽은 뒤</a:t>
            </a:r>
          </a:p>
          <a:p xmlns:a="http://schemas.openxmlformats.org/drawingml/2006/main">
            <a: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네 반박을 다시 보내 두 왕복으로 대화해줘.”</a:t>
            </a:r>
          </a:p>
        </p:txBody>
      </p:sp>
      <p:sp>
        <p:nvSpPr>
          <p:cNvPr id="6" name="mark-0">
            <a:extLst xmlns:a="http://schemas.openxmlformats.org/drawingml/2006/main">
              <a:ext uri="{FF2B5EF4-FFF2-40B4-BE49-F238E27FC236}">
                <a16:creationId xmlns:a16="http://schemas.microsoft.com/office/drawing/2014/main" id="{EE045652-C157-47EA-84A0-5E16F24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EED63B00-ECA3-4280-8AC9-D4F1061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시작문 파일을 그대로 사용합니다</a:t>
            </a:r>
          </a:p>
        </p:txBody>
      </p:sp>
      <p:sp>
        <p:nvSpPr>
          <p:cNvPr id="8" name="mark-1">
            <a:extLst xmlns:a="http://schemas.openxmlformats.org/drawingml/2006/main">
              <a:ext uri="{FF2B5EF4-FFF2-40B4-BE49-F238E27FC236}">
                <a16:creationId xmlns:a16="http://schemas.microsoft.com/office/drawing/2014/main" id="{C3C1B0B1-3777-49DE-8F7C-6A167D8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AD3D06AA-47A0-4ADB-939D-720B2593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공유 가능한 자료와 종료 조건을 함께 줍니다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204CA49F-B02B-4940-9FCF-28681895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1172820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073B2-82B2-4C93-813B-E967E4C3D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5da69cfd54a9e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6CFE1BE-03BE-4B8B-B635-CB05D639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509DEE-2053-4496-9DEB-3B7E89A4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시연 1 · Codex가 Claude를 부르기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331166C-1332-40AD-B58C-3448370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먼저 보낼 메시지를 파일로 준비합니다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EC1B0FF-05E6-48F4-8CD9-F820FF5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2C0C6690-33A9-4490-AEEB-E682387C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check</a:t>
            </a:r>
          </a:p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prepare --to claude</a:t>
            </a:r>
          </a:p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  --message messages/01_첫질문.md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1244FFF9-385E-44E0-88E5-BFF0C2A6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실제 명령은 실행안내에서 한 줄로 복사합니다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B3DB2D7-6B2C-4A08-9260-15A8B05A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08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1C09A0A9-8674-4715-9713-6F870E43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</a:t>
            </a:r>
          </a:p>
        </p:txBody>
      </p:sp>
    </p:spTree>
    <p:extLst>
      <p:ext uri="{BB962C8B-B14F-4D97-AF65-F5344CB8AC3E}">
        <p14:creationId xmlns:p14="http://schemas.microsoft.com/office/powerpoint/2010/main" val="18744211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42209-F9B0-4B6A-9C1E-6D15C60E1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937c2bb0a4c72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79D2296-87E2-4C9A-A517-11F7CBBC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BC343A-0389-4966-8F03-1B4BD4B8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Claude에게 무엇이 전달될까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B2BBC34-E11B-4D7A-A257-12D1F954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이번에는 공개 연습 텍스트만 보냅니다</a:t>
            </a:r>
          </a:p>
        </p:txBody>
      </p:sp>
      <p:sp>
        <p:nvSpPr>
          <p:cNvPr id="5" name="col-rule-0">
            <a:extLst xmlns:a="http://schemas.openxmlformats.org/drawingml/2006/main">
              <a:ext uri="{FF2B5EF4-FFF2-40B4-BE49-F238E27FC236}">
                <a16:creationId xmlns:a16="http://schemas.microsoft.com/office/drawing/2014/main" id="{748C8F1C-B688-43B6-B63B-9711E159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col-title-0">
            <a:extLst xmlns:a="http://schemas.openxmlformats.org/drawingml/2006/main">
              <a:ext uri="{FF2B5EF4-FFF2-40B4-BE49-F238E27FC236}">
                <a16:creationId xmlns:a16="http://schemas.microsoft.com/office/drawing/2014/main" id="{3577D615-C529-4B69-B18A-104D3B6E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이번 입력</a:t>
            </a:r>
          </a:p>
        </p:txBody>
      </p:sp>
      <p:sp>
        <p:nvSpPr>
          <p:cNvPr id="7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D32F76-19DB-4BE9-BA95-1F2CDDCE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공개 연습 자료</a:t>
            </a:r>
          </a:p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Codex의 첫 질문</a:t>
            </a:r>
          </a:p>
        </p:txBody>
      </p:sp>
      <p:sp>
        <p:nvSpPr>
          <p:cNvPr id="8" name="col-rule-1">
            <a:extLst xmlns:a="http://schemas.openxmlformats.org/drawingml/2006/main">
              <a:ext uri="{FF2B5EF4-FFF2-40B4-BE49-F238E27FC236}">
                <a16:creationId xmlns:a16="http://schemas.microsoft.com/office/drawing/2014/main" id="{BD96B446-A6F3-4874-9382-4A3B0209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col-title-1">
            <a:extLst xmlns:a="http://schemas.openxmlformats.org/drawingml/2006/main">
              <a:ext uri="{FF2B5EF4-FFF2-40B4-BE49-F238E27FC236}">
                <a16:creationId xmlns:a16="http://schemas.microsoft.com/office/drawing/2014/main" id="{5E46ED9D-C53B-492F-9EE9-0928A4A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다음 입력</a:t>
            </a:r>
          </a:p>
        </p:txBody>
      </p:sp>
      <p:sp>
        <p:nvSpPr>
          <p:cNvPr id="10" name="col-body-1">
            <a:extLst xmlns:a="http://schemas.openxmlformats.org/drawingml/2006/main">
              <a:ext uri="{FF2B5EF4-FFF2-40B4-BE49-F238E27FC236}">
                <a16:creationId xmlns:a16="http://schemas.microsoft.com/office/drawing/2014/main" id="{87ACC9EB-4C7A-40EB-B55B-6CE9532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이전 질문·실제 회신</a:t>
            </a:r>
          </a:p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Codex의 새 답변</a:t>
            </a:r>
          </a:p>
        </p:txBody>
      </p:sp>
      <p:sp>
        <p:nvSpPr>
          <p:cNvPr id="11" name="columns-note">
            <a:extLst xmlns:a="http://schemas.openxmlformats.org/drawingml/2006/main">
              <a:ext uri="{FF2B5EF4-FFF2-40B4-BE49-F238E27FC236}">
                <a16:creationId xmlns:a16="http://schemas.microsoft.com/office/drawing/2014/main" id="{BD7394E3-C82F-422F-997E-ED372CBB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자료와 이전 대화는 다음 수신 서비스가 읽습니다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46252CD-C5EE-4FB9-93D9-E60C4F2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1585109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E0A35-5670-45BE-8B10-F5828C57E0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9c36cb3e547b6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C54EF11-574E-42F0-8778-43657EAC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1812B6-9978-4F11-8AC1-BD971078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실제 호출을 실행하기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0A711F4-26AB-4825-880C-541514D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명령 실행 뒤 실제 결과가 돌아오는지 확인합니다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B6CC072-32ED-422B-888B-1EF1A55A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E01CD98A-3E49-4690-A097-B34A7717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send --turn 1 --send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E655BDD8-0D40-4EAD-87CE-C6442E4E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완료: reply.md와 status=completed</a:t>
            </a:r>
          </a:p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실패: failed 또는 blocked, 회신을 꾸미지 않음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E909D0E6-83A3-4428-928E-50DBBFF4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10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31211A0D-60E5-4FE0-98BA-999776FF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 · C2</a:t>
            </a:r>
          </a:p>
        </p:txBody>
      </p:sp>
    </p:spTree>
    <p:extLst>
      <p:ext uri="{BB962C8B-B14F-4D97-AF65-F5344CB8AC3E}">
        <p14:creationId xmlns:p14="http://schemas.microsoft.com/office/powerpoint/2010/main" val="14179007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B1446-AF5D-4B01-AF5E-35CC1CDDF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ecfde92b34fc8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DD14EFE-AAAE-4E21-86DB-657A167B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1BA4CC-8CF0-4A89-9044-99BB659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Claude의 첫 답변을 Codex가 읽기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717043B-4993-45F0-9263-9ABC2D41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요약하기 전에 회신 원문을 확인합니다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DCB08-4B24-45BE-AD7B-284972C5633C}"/>
              </a:ext>
            </a:extLst>
          </p:cNvPr>
          <p:cNvGraphicFramePr/>
          <p:nvPr/>
        </p:nvGraphicFramePr>
        <p:xfrm>
          <a:off xmlns:a="http://schemas.openxmlformats.org/drawingml/2006/main" x="685800" y="2800350"/>
          <a:ext xmlns:a="http://schemas.openxmlformats.org/drawingml/2006/main" cx="108204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Codex가 할 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남길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</a:tr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어떤 지적을 왜 받아들이는가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반박·보류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어떤 근거와 범위로 답하는가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회신에서 무엇을 확인할까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4A82922-5C15-49C2-9D9E-0DD25F80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11 / 28</a:t>
            </a:r>
          </a:p>
        </p:txBody>
      </p:sp>
      <p:sp>
        <p:nvSpPr>
          <p:cNvPr id="7" name="source-ids">
            <a:extLst xmlns:a="http://schemas.openxmlformats.org/drawingml/2006/main">
              <a:ext uri="{FF2B5EF4-FFF2-40B4-BE49-F238E27FC236}">
                <a16:creationId xmlns:a16="http://schemas.microsoft.com/office/drawing/2014/main" id="{2AA9EBAA-33AB-4572-8DF0-4E40702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L1</a:t>
            </a:r>
          </a:p>
        </p:txBody>
      </p:sp>
    </p:spTree>
    <p:extLst>
      <p:ext uri="{BB962C8B-B14F-4D97-AF65-F5344CB8AC3E}">
        <p14:creationId xmlns:p14="http://schemas.microsoft.com/office/powerpoint/2010/main" val="2133220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20548-2970-4C35-B619-4EB4F0D9F2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a1e75eba74fd3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9E126CA-A4BF-4458-ADBE-1DCAD8C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07B10D-8B30-4720-89C6-671F720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시연 2 · Codex가 자기 답변 쓰기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4102D33-B7AD-475C-892B-A76D17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이번에는 Codex가 답할 차례입니다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08D72E5-E7C2-43EC-9642-0A8B2DD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47A1B42F-E722-484B-A368-63003BB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messages/02_Codex_답변.md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C4595FE5-DFAD-42CB-A0F9-71CCA52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Claude의 지적에 대한 실제 답변을 씁니다</a:t>
            </a:r>
          </a:p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서식의 빈칸을 채운 뒤 새 파일로 저장합니다</a:t>
            </a:r>
          </a:p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앞선 회신과 연결되는 질문 하나를 남깁니다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2894739D-9C5F-4499-B0D2-C1FEA5DF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1667960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1F80D-921E-48E5-93F3-2E978C1BA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679ba2cbd460e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65DD3AC-0D56-4423-89BA-59414B6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2EBD47-D461-4A03-8C95-460941B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Claude에게 Codex 답변을 다시 보내기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04F58FD-DB59-4646-B1B5-6EF9908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이전 대화와 새 답변이 함께 입력됩니다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4C24F10-279D-4175-851F-DF13EEB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E4316C48-2A3E-4785-9DA0-3690945A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prepare --to claude</a:t>
            </a:r>
          </a:p>
          <a:p xmlns:a="http://schemas.openxmlformats.org/drawingml/2006/main">
            <a: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  --message messages/02_Codex_답변.md</a:t>
            </a:r>
          </a:p>
          <a:p xmlns:a="http://schemas.openxmlformats.org/drawingml/2006/main">
            <a: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send --turn 2 --send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4CA2235B-7D71-457B-B27B-6CBBB1BE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메시지를 새로 보내야 왕복 대화가 이어집니다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F644443-200C-462B-B71A-437A0F6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13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291E7D78-E49E-45FC-BAEC-6EC93370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</a:t>
            </a:r>
          </a:p>
        </p:txBody>
      </p:sp>
    </p:spTree>
    <p:extLst>
      <p:ext uri="{BB962C8B-B14F-4D97-AF65-F5344CB8AC3E}">
        <p14:creationId xmlns:p14="http://schemas.microsoft.com/office/powerpoint/2010/main" val="590965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FCFFD-B1A8-492D-821F-771906389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91e85412c42da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6FE732C-A6D7-4D5B-AD85-9036311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60F8D4-9834-4E70-B874-EF138A3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대화 기억을 이어가는 두 방법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DF51CD0-80C6-48C3-9D64-69059EB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이 수업은 대화 원문을 다음 입력에 다시 담습니다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76C84-1BFF-4797-A9AB-B76794006C8F}"/>
              </a:ext>
            </a:extLst>
          </p:cNvPr>
          <p:cNvGraphicFramePr/>
          <p:nvPr/>
        </p:nvGraphicFramePr>
        <p:xfrm>
          <a:off xmlns:a="http://schemas.openxmlformats.org/drawingml/2006/main" x="685800" y="2800350"/>
          <a:ext xmlns:a="http://schemas.openxmlformats.org/drawingml/2006/main" cx="108204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이어지는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</a:tr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명시적 이력 전달 · 이번 도구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이전 발신·수신·회신을 다음 패킷에 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CLI 세션 재개 · 심화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Claude --resume 또는 Gemini --resume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  <a:tr h="59055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Gemini가 새로 합류할 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알아야 할 Claude 대화를 직접 전달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CE00544-EFBE-403C-AEE0-EFA1CBDF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14 / 28</a:t>
            </a:r>
          </a:p>
        </p:txBody>
      </p:sp>
      <p:sp>
        <p:nvSpPr>
          <p:cNvPr id="7" name="source-ids">
            <a:extLst xmlns:a="http://schemas.openxmlformats.org/drawingml/2006/main">
              <a:ext uri="{FF2B5EF4-FFF2-40B4-BE49-F238E27FC236}">
                <a16:creationId xmlns:a16="http://schemas.microsoft.com/office/drawing/2014/main" id="{CE73BA3C-39DE-4D70-80E4-46F4898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 · G2</a:t>
            </a:r>
          </a:p>
        </p:txBody>
      </p:sp>
    </p:spTree>
    <p:extLst>
      <p:ext uri="{BB962C8B-B14F-4D97-AF65-F5344CB8AC3E}">
        <p14:creationId xmlns:p14="http://schemas.microsoft.com/office/powerpoint/2010/main" val="1883445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7A60C-DA1A-4EFC-88EA-12F43FE82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458cfafef4c72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41155A1-F513-4648-973A-F977FF84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811124-596C-4691-8E1D-565231B9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AI끼리 합의하면 끝일까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72FB228-81D1-4F91-A0EF-E83DBA95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대화가 바꾼 점과 아직 모르는 점을 남깁니다</a:t>
            </a:r>
          </a:p>
        </p:txBody>
      </p:sp>
      <p:sp>
        <p:nvSpPr>
          <p:cNvPr id="5" name="col-rule-0">
            <a:extLst xmlns:a="http://schemas.openxmlformats.org/drawingml/2006/main">
              <a:ext uri="{FF2B5EF4-FFF2-40B4-BE49-F238E27FC236}">
                <a16:creationId xmlns:a16="http://schemas.microsoft.com/office/drawing/2014/main" id="{EED01436-F8D4-4B16-8CFB-7E36901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col-title-0">
            <a:extLst xmlns:a="http://schemas.openxmlformats.org/drawingml/2006/main">
              <a:ext uri="{FF2B5EF4-FFF2-40B4-BE49-F238E27FC236}">
                <a16:creationId xmlns:a16="http://schemas.microsoft.com/office/drawing/2014/main" id="{E77D977A-C5C8-4C8A-AEDC-7671ACEF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합의</a:t>
            </a:r>
          </a:p>
        </p:txBody>
      </p:sp>
      <p:sp>
        <p:nvSpPr>
          <p:cNvPr id="7" name="col-body-0">
            <a:extLst xmlns:a="http://schemas.openxmlformats.org/drawingml/2006/main">
              <a:ext uri="{FF2B5EF4-FFF2-40B4-BE49-F238E27FC236}">
                <a16:creationId xmlns:a16="http://schemas.microsoft.com/office/drawing/2014/main" id="{52D33BF1-48D8-4672-9073-AFA7F5FD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근거로 수정된 문장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다음 확인 자료</a:t>
            </a:r>
          </a:p>
        </p:txBody>
      </p:sp>
      <p:sp>
        <p:nvSpPr>
          <p:cNvPr id="8" name="col-rule-1">
            <a:extLst xmlns:a="http://schemas.openxmlformats.org/drawingml/2006/main">
              <a:ext uri="{FF2B5EF4-FFF2-40B4-BE49-F238E27FC236}">
                <a16:creationId xmlns:a16="http://schemas.microsoft.com/office/drawing/2014/main" id="{8A31A2E2-4AE3-4C99-B07A-EAAFDB9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col-title-1">
            <a:extLst xmlns:a="http://schemas.openxmlformats.org/drawingml/2006/main">
              <a:ext uri="{FF2B5EF4-FFF2-40B4-BE49-F238E27FC236}">
                <a16:creationId xmlns:a16="http://schemas.microsoft.com/office/drawing/2014/main" id="{295C3463-8EC3-4602-BC28-364BCBB2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불일치</a:t>
            </a:r>
          </a:p>
        </p:txBody>
      </p:sp>
      <p:sp>
        <p:nvSpPr>
          <p:cNvPr id="10" name="col-body-1">
            <a:extLst xmlns:a="http://schemas.openxmlformats.org/drawingml/2006/main">
              <a:ext uri="{FF2B5EF4-FFF2-40B4-BE49-F238E27FC236}">
                <a16:creationId xmlns:a16="http://schemas.microsoft.com/office/drawing/2014/main" id="{AAD6BCCB-7D5F-423F-93AB-C28CACF8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서로 다른 전제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판단이 남은 기준</a:t>
            </a:r>
          </a:p>
        </p:txBody>
      </p:sp>
      <p:sp>
        <p:nvSpPr>
          <p:cNvPr id="11" name="col-rule-2">
            <a:extLst xmlns:a="http://schemas.openxmlformats.org/drawingml/2006/main">
              <a:ext uri="{FF2B5EF4-FFF2-40B4-BE49-F238E27FC236}">
                <a16:creationId xmlns:a16="http://schemas.microsoft.com/office/drawing/2014/main" id="{37B8508A-8F1F-49B1-8A93-9A50F2C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2" name="col-title-2">
            <a:extLst xmlns:a="http://schemas.openxmlformats.org/drawingml/2006/main">
              <a:ext uri="{FF2B5EF4-FFF2-40B4-BE49-F238E27FC236}">
                <a16:creationId xmlns:a16="http://schemas.microsoft.com/office/drawing/2014/main" id="{157D6E13-53F7-4574-8C1E-BF2F0A5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사람의 선택</a:t>
            </a:r>
          </a:p>
        </p:txBody>
      </p:sp>
      <p:sp>
        <p:nvSpPr>
          <p:cNvPr id="13" name="col-body-2">
            <a:extLst xmlns:a="http://schemas.openxmlformats.org/drawingml/2006/main">
              <a:ext uri="{FF2B5EF4-FFF2-40B4-BE49-F238E27FC236}">
                <a16:creationId xmlns:a16="http://schemas.microsoft.com/office/drawing/2014/main" id="{A0354CA4-30E8-497A-9EEF-DD2400A8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실제 전략 우선순위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외부 사용·제출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E845648D-31DC-457A-88CD-384CD0E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15 / 28</a:t>
            </a:r>
          </a:p>
        </p:txBody>
      </p:sp>
      <p:sp>
        <p:nvSpPr>
          <p:cNvPr id="15" name="source-ids">
            <a:extLst xmlns:a="http://schemas.openxmlformats.org/drawingml/2006/main">
              <a:ext uri="{FF2B5EF4-FFF2-40B4-BE49-F238E27FC236}">
                <a16:creationId xmlns:a16="http://schemas.microsoft.com/office/drawing/2014/main" id="{E9AB8B88-38BF-4E3E-A265-5D5F6DB3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L1</a:t>
            </a:r>
          </a:p>
        </p:txBody>
      </p:sp>
    </p:spTree>
    <p:extLst>
      <p:ext uri="{BB962C8B-B14F-4D97-AF65-F5344CB8AC3E}">
        <p14:creationId xmlns:p14="http://schemas.microsoft.com/office/powerpoint/2010/main" val="10481085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3D45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eak-title">
            <a:extLst xmlns:a="http://schemas.openxmlformats.org/drawingml/2006/main">
              <a:ext uri="{FF2B5EF4-FFF2-40B4-BE49-F238E27FC236}">
                <a16:creationId xmlns:a16="http://schemas.microsoft.com/office/drawing/2014/main" id="{DAE52EBB-ABC5-4663-A936-EFB8198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5분 쉬고 이어갑니다</a:t>
            </a:r>
          </a:p>
        </p:txBody>
      </p:sp>
      <p:sp>
        <p:nvSpPr>
          <p:cNvPr id="2" name="break-lead">
            <a:extLst xmlns:a="http://schemas.openxmlformats.org/drawingml/2006/main">
              <a:ext uri="{FF2B5EF4-FFF2-40B4-BE49-F238E27FC236}">
                <a16:creationId xmlns:a16="http://schemas.microsoft.com/office/drawing/2014/main" id="{0B138CD0-84CC-4E6B-A8B3-E678D2A0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D8F1F0"/>
                </a:solidFill>
                <a:latin typeface="Pretendard"/>
                <a:ea typeface="Pretendard"/>
                <a:cs typeface="Pretendard"/>
              </a:rPr>
              <a:t>다음은 Gemini를 대화에 합류시키기</a:t>
            </a:r>
          </a:p>
        </p:txBody>
      </p:sp>
      <p:sp>
        <p:nvSpPr>
          <p:cNvPr id="3" name="break-body">
            <a:extLst xmlns:a="http://schemas.openxmlformats.org/drawingml/2006/main">
              <a:ext uri="{FF2B5EF4-FFF2-40B4-BE49-F238E27FC236}">
                <a16:creationId xmlns:a16="http://schemas.microsoft.com/office/drawing/2014/main" id="{0A494770-4C29-4FE8-91E0-D7D59AC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Codex가 계속 진행합니다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C336DA2-AD7B-4DBF-9D3F-B5501EBB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5147209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A46EF-FA5E-4F4B-B478-B999DD23F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a55a81b4e4d5c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83743DE-FA0A-4658-81EB-6D808CB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EDFD03-6FC1-47A2-BCB0-A11210EC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시연 3 · Gemini 준비 상태 확인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4720E4F-931D-494E-84EA-ED0B8264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같은 전달 경로에 다른 답변자를 추가합니다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1AD1C18-491D-4195-B516-9068CDF0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4208469B-B6F5-4B89-A55B-C722B92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node --version</a:t>
            </a:r>
          </a:p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gemini --version</a:t>
            </a:r>
          </a:p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gemini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3057A522-3FF9-4299-9F0F-E5158110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공식 설치: npm install -g @google/gemini-cli</a:t>
            </a:r>
          </a:p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본인 계정으로 사전 로그인합니다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B0C1EF7F-2ED7-4B01-B8A9-1F5FA863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17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400C0DB7-AF01-47EC-9595-BD5A9F7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G3 · G4</a:t>
            </a:r>
          </a:p>
        </p:txBody>
      </p:sp>
    </p:spTree>
    <p:extLst>
      <p:ext uri="{BB962C8B-B14F-4D97-AF65-F5344CB8AC3E}">
        <p14:creationId xmlns:p14="http://schemas.microsoft.com/office/powerpoint/2010/main" val="15777426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8CFE8-0AC4-4ADB-8311-89BDFCABA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2f5213e104ff7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DE8BF4D-0AC4-4DBB-8FC8-1E5497E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8CA9AD-22E3-4249-94FC-88C7C77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Gemini에게 앞선 대화를 건네기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A33F612-3F23-4D82-BB4E-279E935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Claude 회신까지 Google에 전달됩니다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E5E9B96-F4C4-425A-A259-0583BCE3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1C07E32D-7EB2-401D-93BC-C16A4D0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prepare --to gemini</a:t>
            </a:r>
          </a:p>
          <a:p xmlns:a="http://schemas.openxmlformats.org/drawingml/2006/main">
            <a: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  --message messages/03_Gemini_합류.md</a:t>
            </a:r>
          </a:p>
          <a:p xmlns:a="http://schemas.openxmlformats.org/drawingml/2006/main">
            <a:pPr algn="l">
              <a:def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python tools/relay.py send --turn 3 --send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60D84345-2D81-4D11-B6F7-0414CF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Codex가 수신자와 전달 범위를 확인합니다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99AA2CD4-3D6F-422D-B0AB-CB885D6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18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D78AE23E-029F-48FA-9535-A87517FB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G1 · G2</a:t>
            </a:r>
          </a:p>
        </p:txBody>
      </p:sp>
    </p:spTree>
    <p:extLst>
      <p:ext uri="{BB962C8B-B14F-4D97-AF65-F5344CB8AC3E}">
        <p14:creationId xmlns:p14="http://schemas.microsoft.com/office/powerpoint/2010/main" val="200162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56F20-E8BE-4EA3-8D6B-A9FFA5202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d2bb89f1943a5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36BD99F-540F-4518-A337-0E6208E3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6AED7B-FFC1-4213-800C-C21AE1A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같은 반론을 반복하지 않게 묻기</a:t>
            </a:r>
          </a:p>
        </p:txBody>
      </p:sp>
      <p:sp>
        <p:nvSpPr>
          <p:cNvPr id="4" name="quote-line">
            <a:extLst xmlns:a="http://schemas.openxmlformats.org/drawingml/2006/main">
              <a:ext uri="{FF2B5EF4-FFF2-40B4-BE49-F238E27FC236}">
                <a16:creationId xmlns:a16="http://schemas.microsoft.com/office/drawing/2014/main" id="{53F7D85F-64F8-4839-A57E-2E69C862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590A08C6-EC12-4CEE-82D3-3754BD4D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1033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“앞선 Codex·Claude 대화를 읽고</a:t>
            </a:r>
          </a:p>
          <a:p xmlns:a="http://schemas.openxmlformats.org/drawingml/2006/main">
            <a: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두 AI가 놓친 검증 방법 하나를 제안해줘.”</a:t>
            </a:r>
          </a:p>
        </p:txBody>
      </p:sp>
      <p:sp>
        <p:nvSpPr>
          <p:cNvPr id="6" name="mark-0">
            <a:extLst xmlns:a="http://schemas.openxmlformats.org/drawingml/2006/main">
              <a:ext uri="{FF2B5EF4-FFF2-40B4-BE49-F238E27FC236}">
                <a16:creationId xmlns:a16="http://schemas.microsoft.com/office/drawing/2014/main" id="{8011A595-0683-46C2-8668-8D4B777F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5385AB65-AFFF-49D7-8FE4-49DB0229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이 문장은 수업용 질문입니다</a:t>
            </a:r>
          </a:p>
        </p:txBody>
      </p:sp>
      <p:sp>
        <p:nvSpPr>
          <p:cNvPr id="8" name="mark-1">
            <a:extLst xmlns:a="http://schemas.openxmlformats.org/drawingml/2006/main">
              <a:ext uri="{FF2B5EF4-FFF2-40B4-BE49-F238E27FC236}">
                <a16:creationId xmlns:a16="http://schemas.microsoft.com/office/drawing/2014/main" id="{40AC5AA5-2D61-4E0B-AA41-79E7F6D4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F23A8371-CE0E-4053-A2BC-61C26CCB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이미 답한 쟁점과 새 질문을 구분합니다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757022BC-9903-4283-9EB9-934DE495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15791185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B5404-083B-4368-9863-A975B82ADF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3b1f51b7d4ce8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3222797-E34A-4E29-BBA8-3FD83DE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B9FAA-81AD-408F-9B92-6B1C133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Codex가 두 회신을 비교하고 답하기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1542A68-A802-4F80-B00A-54CEBD2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최종 발언을 만드는 주체는 계속 Codex입니다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C7937-495E-4B19-A783-55E8BB422DB8}"/>
              </a:ext>
            </a:extLst>
          </p:cNvPr>
          <p:cNvGraphicFramePr/>
          <p:nvPr/>
        </p:nvGraphicFramePr>
        <p:xfrm>
          <a:off xmlns:a="http://schemas.openxmlformats.org/drawingml/2006/main" x="685800" y="28003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비교할 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질문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동일 쟁점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근거를 반복했는가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관점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주장이나 검증 방법이 추가됐는가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충돌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전제·기간·범위가 다른가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답변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무엇을 수정하거나 보류할까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67C7DBE-7F30-402A-B3CE-6AD36CC1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2290473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2A005-DC8A-4015-8E04-C20A43281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f46f1879b472c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E592B2C-421F-4D7E-B901-58E35C6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4976F4-C14B-4402-9271-2070D44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대화 기록은 이렇게 남습니다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677931D-C6A6-479F-918A-895F5BF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누가 누구에게 무엇을 보냈는지 추적합니다</a:t>
            </a:r>
          </a:p>
        </p:txBody>
      </p:sp>
      <p:sp>
        <p:nvSpPr>
          <p:cNvPr id="5" name="col-rule-0">
            <a:extLst xmlns:a="http://schemas.openxmlformats.org/drawingml/2006/main">
              <a:ext uri="{FF2B5EF4-FFF2-40B4-BE49-F238E27FC236}">
                <a16:creationId xmlns:a16="http://schemas.microsoft.com/office/drawing/2014/main" id="{C5C8498A-0E34-442C-ABF9-B0F1A65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col-title-0">
            <a:extLst xmlns:a="http://schemas.openxmlformats.org/drawingml/2006/main">
              <a:ext uri="{FF2B5EF4-FFF2-40B4-BE49-F238E27FC236}">
                <a16:creationId xmlns:a16="http://schemas.microsoft.com/office/drawing/2014/main" id="{0B7AC221-4E62-447A-9B49-95988211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packet.md</a:t>
            </a:r>
          </a:p>
        </p:txBody>
      </p:sp>
      <p:sp>
        <p:nvSpPr>
          <p:cNvPr id="7" name="col-body-0">
            <a:extLst xmlns:a="http://schemas.openxmlformats.org/drawingml/2006/main">
              <a:ext uri="{FF2B5EF4-FFF2-40B4-BE49-F238E27FC236}">
                <a16:creationId xmlns:a16="http://schemas.microsoft.com/office/drawing/2014/main" id="{14B9411E-88D8-4F22-B1A7-BE84F919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실제 전송할 내용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직전 이력과 새 질문</a:t>
            </a:r>
          </a:p>
        </p:txBody>
      </p:sp>
      <p:sp>
        <p:nvSpPr>
          <p:cNvPr id="8" name="col-rule-1">
            <a:extLst xmlns:a="http://schemas.openxmlformats.org/drawingml/2006/main">
              <a:ext uri="{FF2B5EF4-FFF2-40B4-BE49-F238E27FC236}">
                <a16:creationId xmlns:a16="http://schemas.microsoft.com/office/drawing/2014/main" id="{44AF255F-42B6-4226-8196-24F3A09C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col-title-1">
            <a:extLst xmlns:a="http://schemas.openxmlformats.org/drawingml/2006/main">
              <a:ext uri="{FF2B5EF4-FFF2-40B4-BE49-F238E27FC236}">
                <a16:creationId xmlns:a16="http://schemas.microsoft.com/office/drawing/2014/main" id="{CADB6A7F-4D39-4333-8D68-E995AD88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meta.json</a:t>
            </a:r>
          </a:p>
        </p:txBody>
      </p:sp>
      <p:sp>
        <p:nvSpPr>
          <p:cNvPr id="10" name="col-body-1">
            <a:extLst xmlns:a="http://schemas.openxmlformats.org/drawingml/2006/main">
              <a:ext uri="{FF2B5EF4-FFF2-40B4-BE49-F238E27FC236}">
                <a16:creationId xmlns:a16="http://schemas.microsoft.com/office/drawing/2014/main" id="{F4134401-1036-4B81-99C7-37D53F18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수신자·상태·시간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입력·회신 해시</a:t>
            </a:r>
          </a:p>
        </p:txBody>
      </p:sp>
      <p:sp>
        <p:nvSpPr>
          <p:cNvPr id="11" name="col-rule-2">
            <a:extLst xmlns:a="http://schemas.openxmlformats.org/drawingml/2006/main">
              <a:ext uri="{FF2B5EF4-FFF2-40B4-BE49-F238E27FC236}">
                <a16:creationId xmlns:a16="http://schemas.microsoft.com/office/drawing/2014/main" id="{6F62A53D-29C4-433A-B30E-F33276CC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971800"/>
            <a:ext cx="337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2" name="col-title-2">
            <a:extLst xmlns:a="http://schemas.openxmlformats.org/drawingml/2006/main">
              <a:ext uri="{FF2B5EF4-FFF2-40B4-BE49-F238E27FC236}">
                <a16:creationId xmlns:a16="http://schemas.microsoft.com/office/drawing/2014/main" id="{D3AA83A7-934E-43B5-A692-AD51A941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209925"/>
            <a:ext cx="337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reply.md</a:t>
            </a:r>
          </a:p>
        </p:txBody>
      </p:sp>
      <p:sp>
        <p:nvSpPr>
          <p:cNvPr id="13" name="col-body-2">
            <a:extLst xmlns:a="http://schemas.openxmlformats.org/drawingml/2006/main">
              <a:ext uri="{FF2B5EF4-FFF2-40B4-BE49-F238E27FC236}">
                <a16:creationId xmlns:a16="http://schemas.microsoft.com/office/drawing/2014/main" id="{75F5E64F-BB2A-4248-9C10-57C19044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876675"/>
            <a:ext cx="3378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성공한 실제 회신</a:t>
            </a:r>
          </a:p>
          <a:p xmlns:a="http://schemas.openxmlformats.org/drawingml/2006/main">
            <a:pPr algn="l">
              <a:def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그대로 보존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7CED65FE-A3CB-4A96-BC5A-C3591A5D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11076297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6B64A-F2D3-4B27-B55F-63FFDD7BA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46ddba7dc43f8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42FD06C-3045-49E0-A8AF-D7D0FAAD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251A4-1048-4D86-ACBA-E3A85991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언제 대화를 멈출까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0A3B641-2922-42DE-BDD4-DAFDB4A5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강의의 기본은 두 왕복입니다</a:t>
            </a:r>
          </a:p>
        </p:txBody>
      </p:sp>
      <p:sp>
        <p:nvSpPr>
          <p:cNvPr id="5" name="mark-0">
            <a:extLst xmlns:a="http://schemas.openxmlformats.org/drawingml/2006/main">
              <a:ext uri="{FF2B5EF4-FFF2-40B4-BE49-F238E27FC236}">
                <a16:creationId xmlns:a16="http://schemas.microsoft.com/office/drawing/2014/main" id="{C3E416CA-819F-42BD-8604-60F53AB3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A3E392B7-F4AB-410F-ACC9-F1016642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수정할 쟁점이 해결되면 정리합니다</a:t>
            </a:r>
          </a:p>
        </p:txBody>
      </p:sp>
      <p:sp>
        <p:nvSpPr>
          <p:cNvPr id="7" name="mark-1">
            <a:extLst xmlns:a="http://schemas.openxmlformats.org/drawingml/2006/main">
              <a:ext uri="{FF2B5EF4-FFF2-40B4-BE49-F238E27FC236}">
                <a16:creationId xmlns:a16="http://schemas.microsoft.com/office/drawing/2014/main" id="{721CAE27-2617-4B35-A0CC-7B8CD6F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784F9698-9CF2-4B32-B624-A3709696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새 근거 없이 반복하면 멈춥니다</a:t>
            </a:r>
          </a:p>
        </p:txBody>
      </p:sp>
      <p:sp>
        <p:nvSpPr>
          <p:cNvPr id="9" name="mark-2">
            <a:extLst xmlns:a="http://schemas.openxmlformats.org/drawingml/2006/main">
              <a:ext uri="{FF2B5EF4-FFF2-40B4-BE49-F238E27FC236}">
                <a16:creationId xmlns:a16="http://schemas.microsoft.com/office/drawing/2014/main" id="{9B823F2F-C9A4-4870-A35B-2D052C2F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B31ECBD1-FAF5-4857-933E-A4C90C6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사람의 결정이 필요하면 질문을 남깁니다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24B99957-E046-41FA-ABD3-FBCA055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6402690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2AF03-5037-4406-8555-BE3171B2D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dd56eda574194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B3C31BC-5CF4-4A7B-96A8-67B005AC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513DD-352B-4429-843A-0211E64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이 방식이 편리한 이유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DE75619-53BC-4FCF-8D34-77E189FE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사용자는 한 Codex 대화에서 일을 이어갑니다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CD47B-D220-4782-906C-ECCAE8993A6D}"/>
              </a:ext>
            </a:extLst>
          </p:cNvPr>
          <p:cNvGraphicFramePr/>
          <p:nvPr/>
        </p:nvGraphicFramePr>
        <p:xfrm>
          <a:off xmlns:a="http://schemas.openxmlformats.org/drawingml/2006/main" x="685800" y="28003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반복 작업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대화 도구가 돕는 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앱마다 복사·붙여 넣기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Codex가 질문과 회신을 전달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누가 한 말인지 찾기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발신자·수신자별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수정 이유 정리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반론과 Codex 답변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남은 판단 찾기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합의·불일치·미확인 정리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F1AADA7-A7B9-4FA6-8646-755B5A50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23 / 28</a:t>
            </a:r>
          </a:p>
        </p:txBody>
      </p:sp>
      <p:sp>
        <p:nvSpPr>
          <p:cNvPr id="7" name="source-ids">
            <a:extLst xmlns:a="http://schemas.openxmlformats.org/drawingml/2006/main">
              <a:ext uri="{FF2B5EF4-FFF2-40B4-BE49-F238E27FC236}">
                <a16:creationId xmlns:a16="http://schemas.microsoft.com/office/drawing/2014/main" id="{84691528-3627-4599-B2A6-9F905933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L1</a:t>
            </a:r>
          </a:p>
        </p:txBody>
      </p:sp>
    </p:spTree>
    <p:extLst>
      <p:ext uri="{BB962C8B-B14F-4D97-AF65-F5344CB8AC3E}">
        <p14:creationId xmlns:p14="http://schemas.microsoft.com/office/powerpoint/2010/main" val="5645455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B3A63-9776-4BBB-8338-9D9AA5F3A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921f4ab6461a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EE06872-0806-4854-BC38-15EFE57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84F617-3121-49D3-A0CA-0BE08541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MCP는 연결 방법 중 하나입니다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9702B6F-DE0D-4C33-ABBD-DD2723F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이번 대화 시연은 CLI 호출로 진행합니다</a:t>
            </a:r>
          </a:p>
        </p:txBody>
      </p:sp>
      <p:sp>
        <p:nvSpPr>
          <p:cNvPr id="5" name="col-rule-0">
            <a:extLst xmlns:a="http://schemas.openxmlformats.org/drawingml/2006/main">
              <a:ext uri="{FF2B5EF4-FFF2-40B4-BE49-F238E27FC236}">
                <a16:creationId xmlns:a16="http://schemas.microsoft.com/office/drawing/2014/main" id="{708ADF34-9D94-43B3-831A-C52F4DD0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col-title-0">
            <a:extLst xmlns:a="http://schemas.openxmlformats.org/drawingml/2006/main">
              <a:ext uri="{FF2B5EF4-FFF2-40B4-BE49-F238E27FC236}">
                <a16:creationId xmlns:a16="http://schemas.microsoft.com/office/drawing/2014/main" id="{BB4BFE57-1197-4C52-8CB9-9291CA32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CLI · 이번 수업</a:t>
            </a:r>
          </a:p>
        </p:txBody>
      </p:sp>
      <p:sp>
        <p:nvSpPr>
          <p:cNvPr id="7" name="col-body-0">
            <a:extLst xmlns:a="http://schemas.openxmlformats.org/drawingml/2006/main">
              <a:ext uri="{FF2B5EF4-FFF2-40B4-BE49-F238E27FC236}">
                <a16:creationId xmlns:a16="http://schemas.microsoft.com/office/drawing/2014/main" id="{D3A3D08E-0EEB-48ED-A787-38423DCB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Codex가 명령을 실행</a:t>
            </a:r>
          </a:p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외부 답변을 받아 읽기</a:t>
            </a:r>
          </a:p>
        </p:txBody>
      </p:sp>
      <p:sp>
        <p:nvSpPr>
          <p:cNvPr id="8" name="col-rule-1">
            <a:extLst xmlns:a="http://schemas.openxmlformats.org/drawingml/2006/main">
              <a:ext uri="{FF2B5EF4-FFF2-40B4-BE49-F238E27FC236}">
                <a16:creationId xmlns:a16="http://schemas.microsoft.com/office/drawing/2014/main" id="{899B9FBE-6DAC-45C9-8F82-AD84BDE4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col-title-1">
            <a:extLst xmlns:a="http://schemas.openxmlformats.org/drawingml/2006/main">
              <a:ext uri="{FF2B5EF4-FFF2-40B4-BE49-F238E27FC236}">
                <a16:creationId xmlns:a16="http://schemas.microsoft.com/office/drawing/2014/main" id="{C2A0D024-030F-4F63-9037-09EF3FBE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MCP · 확장 방식</a:t>
            </a:r>
          </a:p>
        </p:txBody>
      </p:sp>
      <p:sp>
        <p:nvSpPr>
          <p:cNvPr id="10" name="col-body-1">
            <a:extLst xmlns:a="http://schemas.openxmlformats.org/drawingml/2006/main">
              <a:ext uri="{FF2B5EF4-FFF2-40B4-BE49-F238E27FC236}">
                <a16:creationId xmlns:a16="http://schemas.microsoft.com/office/drawing/2014/main" id="{49763218-3077-465E-A34F-651D15AD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ask_claude 같은 도구 노출</a:t>
            </a:r>
          </a:p>
          <a:p xmlns:a="http://schemas.openxmlformats.org/drawingml/2006/main">
            <a:pPr algn="l">
              <a:def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어댑터 구현·등록 필요</a:t>
            </a:r>
          </a:p>
        </p:txBody>
      </p:sp>
      <p:sp>
        <p:nvSpPr>
          <p:cNvPr id="11" name="columns-note">
            <a:extLst xmlns:a="http://schemas.openxmlformats.org/drawingml/2006/main">
              <a:ext uri="{FF2B5EF4-FFF2-40B4-BE49-F238E27FC236}">
                <a16:creationId xmlns:a16="http://schemas.microsoft.com/office/drawing/2014/main" id="{9AEF535A-1C2C-41DF-8BC3-14FEDBB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MCP를 등록하는 것만으로 AI끼리 대화하지 않습니다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7D2FB49-0124-4F16-AFC0-20C0B32B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24 / 28</a:t>
            </a:r>
          </a:p>
        </p:txBody>
      </p:sp>
      <p:sp>
        <p:nvSpPr>
          <p:cNvPr id="13" name="source-ids">
            <a:extLst xmlns:a="http://schemas.openxmlformats.org/drawingml/2006/main">
              <a:ext uri="{FF2B5EF4-FFF2-40B4-BE49-F238E27FC236}">
                <a16:creationId xmlns:a16="http://schemas.microsoft.com/office/drawing/2014/main" id="{43B77D66-DAB5-4310-9ADC-C08401C0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O1 · C1 · G1</a:t>
            </a:r>
          </a:p>
        </p:txBody>
      </p:sp>
    </p:spTree>
    <p:extLst>
      <p:ext uri="{BB962C8B-B14F-4D97-AF65-F5344CB8AC3E}">
        <p14:creationId xmlns:p14="http://schemas.microsoft.com/office/powerpoint/2010/main" val="5280577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C2DFD-A3C0-4F7B-A3B0-25FB019DF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7baef281144a1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BA136A2-1209-4099-AE00-B05A3B5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8E5634-0B17-49C6-A16C-F9ADF10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문서 MCP와 AI 대화 연결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82B7CF7-2712-46A0-A24C-B580C9D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공식 문서 검색 연결의 예입니다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2FDF921-2568-431D-A201-8E0481DE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" name="command">
            <a:extLst xmlns:a="http://schemas.openxmlformats.org/drawingml/2006/main">
              <a:ext uri="{FF2B5EF4-FFF2-40B4-BE49-F238E27FC236}">
                <a16:creationId xmlns:a16="http://schemas.microsoft.com/office/drawing/2014/main" id="{F067B6C1-ACDE-4666-8304-5A7F422E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10325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codex mcp add openaiDeveloperDocs</a:t>
            </a:r>
          </a:p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  --url https://developers.openai.com/mcp</a:t>
            </a:r>
          </a:p>
        </p:txBody>
      </p:sp>
      <p:sp>
        <p:nvSpPr>
          <p:cNvPr id="7" name="code-note">
            <a:extLst xmlns:a="http://schemas.openxmlformats.org/drawingml/2006/main">
              <a:ext uri="{FF2B5EF4-FFF2-40B4-BE49-F238E27FC236}">
                <a16:creationId xmlns:a16="http://schemas.microsoft.com/office/drawing/2014/main" id="{153304AB-8326-446C-AA52-16C349A3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문서 읽기 서버이며 Claude·Gemini 호출 서버는 아닙니다</a:t>
            </a:r>
          </a:p>
          <a:p xmlns:a="http://schemas.openxmlformats.org/drawingml/2006/main">
            <a:pPr algn="l">
              <a:def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67F7D"/>
                </a:solidFill>
                <a:latin typeface="Pretendard"/>
                <a:ea typeface="Pretendard"/>
                <a:cs typeface="Pretendard"/>
              </a:rPr>
              <a:t>주 시연은 계속 Codex와 외부 CLI의 왕복 대화입니다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29369433-D8FE-410A-B99E-25FE169F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25 / 28</a:t>
            </a:r>
          </a:p>
        </p:txBody>
      </p:sp>
      <p:sp>
        <p:nvSpPr>
          <p:cNvPr id="9" name="source-ids">
            <a:extLst xmlns:a="http://schemas.openxmlformats.org/drawingml/2006/main">
              <a:ext uri="{FF2B5EF4-FFF2-40B4-BE49-F238E27FC236}">
                <a16:creationId xmlns:a16="http://schemas.microsoft.com/office/drawing/2014/main" id="{53A03908-A1E9-433C-98B2-3F106238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O2</a:t>
            </a:r>
          </a:p>
        </p:txBody>
      </p:sp>
    </p:spTree>
    <p:extLst>
      <p:ext uri="{BB962C8B-B14F-4D97-AF65-F5344CB8AC3E}">
        <p14:creationId xmlns:p14="http://schemas.microsoft.com/office/powerpoint/2010/main" val="10573219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0B70B-CD79-4EB4-A9E2-BD95790EC6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7b64a05b24fa9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980879A-88D7-4AD1-9DF3-01112B95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2195EF-A8D5-4D00-9A69-E177EA0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막혔을 때 확인할 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6D2F76A-53A4-44D5-9DB7-FC4EAF1C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실패를 기록하고 시연 경로를 바꿉니다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ED245-0A7D-467A-B388-E7A97878FE99}"/>
              </a:ext>
            </a:extLst>
          </p:cNvPr>
          <p:cNvGraphicFramePr/>
          <p:nvPr/>
        </p:nvGraphicFramePr>
        <p:xfrm>
          <a:off xmlns:a="http://schemas.openxmlformats.org/drawingml/2006/main" x="685800" y="28003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확인·대안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3D4550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프로그램을 못 찾음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설치·PATH, check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인증·한도 오류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본인 로그인·사용량, 실제 회신 재생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응답 없음·시간 초과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failed 표시, 저장된 사례 사용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근거 없이 반복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 wrap="square" lIns="114300" tIns="66675" rIns="114300" bIns="66675"/>
                    <a:lstStyle/>
                    <a:p>
                      <a:pPr algn="l"/>
                      <a:r>
                        <a:rPr sz="1650" b="0">
                          <a:solidFill>
                            <a:srgbClr val="2D2D2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대화 종료, 사람 판단 남기기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7A52A6E-412C-49E0-9DCE-4FA986A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6746177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99959-12A2-4466-8875-F159CF935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41e34cac349b5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CEF3463-D2A7-4CEE-9A81-B42D3D7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B2D0E8-9AAF-4B86-AC63-8C8C2F8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내 과제로 대화 시작하기</a:t>
            </a:r>
          </a:p>
        </p:txBody>
      </p:sp>
      <p:sp>
        <p:nvSpPr>
          <p:cNvPr id="4" name="quote-line">
            <a:extLst xmlns:a="http://schemas.openxmlformats.org/drawingml/2006/main">
              <a:ext uri="{FF2B5EF4-FFF2-40B4-BE49-F238E27FC236}">
                <a16:creationId xmlns:a16="http://schemas.microsoft.com/office/drawing/2014/main" id="{4F4C5D11-F5C3-446A-B52D-BB5F7067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7FCADEAD-5B74-45BC-8231-560092B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1033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“Codex가 진행하고 Claude가 반론해줘.</a:t>
            </a:r>
          </a:p>
          <a:p xmlns:a="http://schemas.openxmlformats.org/drawingml/2006/main">
            <a:pPr algn="l">
              <a:def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Gemini에는 다른 검증 방법을 물어봐.”</a:t>
            </a:r>
          </a:p>
        </p:txBody>
      </p:sp>
      <p:sp>
        <p:nvSpPr>
          <p:cNvPr id="6" name="mark-0">
            <a:extLst xmlns:a="http://schemas.openxmlformats.org/drawingml/2006/main">
              <a:ext uri="{FF2B5EF4-FFF2-40B4-BE49-F238E27FC236}">
                <a16:creationId xmlns:a16="http://schemas.microsoft.com/office/drawing/2014/main" id="{C2B6366E-8970-41A1-B7E1-5141ACF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27B533B6-4DBA-4405-966E-DCD57CD5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주제·공유 자료·역할·왕복 횟수를 덧붙입니다</a:t>
            </a:r>
          </a:p>
        </p:txBody>
      </p:sp>
      <p:sp>
        <p:nvSpPr>
          <p:cNvPr id="8" name="mark-1">
            <a:extLst xmlns:a="http://schemas.openxmlformats.org/drawingml/2006/main">
              <a:ext uri="{FF2B5EF4-FFF2-40B4-BE49-F238E27FC236}">
                <a16:creationId xmlns:a16="http://schemas.microsoft.com/office/drawing/2014/main" id="{1FD1307C-ED1D-4193-B248-008CB3A3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A9AFD4A6-B29E-4F29-9E4F-59AABC6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자기 과제의 첫 지시문 한 줄을 남깁니다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A494D0BD-C32E-4F2A-99D3-050B9C28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7797117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78125-B6AD-4CEC-9B71-9E958BC99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27d70cf31442c"/>
          <a:stretch xmlns:a="http://schemas.openxmlformats.org/drawingml/2006/main"/>
        </p:blipFill>
        <p:spPr>
          <a:xfrm xmlns:a="http://schemas.openxmlformats.org/drawingml/2006/main">
            <a:off x="685800" y="286936"/>
            <a:ext cx="1476375" cy="283378"/>
          </a:xfrm>
          <a:prstGeom xmlns:a="http://schemas.openxmlformats.org/drawingml/2006/main" prst="rect">
            <a:avLst/>
          </a:prstGeom>
        </p:spPr>
      </p:pic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DE93699-7D1D-4A00-BE3D-FC331590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2BE682-7268-481F-AA3D-B1A0490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오늘의 완성 기준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59B9B5B-CDEF-41B9-9AA5-095C4882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3D4550"/>
                </a:solidFill>
                <a:latin typeface="Pretendard"/>
                <a:ea typeface="Pretendard"/>
                <a:cs typeface="Pretendard"/>
              </a:rPr>
              <a:t>Codex가 회신을 읽고 다시 답했는가</a:t>
            </a:r>
          </a:p>
        </p:txBody>
      </p:sp>
      <p:sp>
        <p:nvSpPr>
          <p:cNvPr id="5" name="mark-0">
            <a:extLst xmlns:a="http://schemas.openxmlformats.org/drawingml/2006/main">
              <a:ext uri="{FF2B5EF4-FFF2-40B4-BE49-F238E27FC236}">
                <a16:creationId xmlns:a16="http://schemas.microsoft.com/office/drawing/2014/main" id="{6B8701FD-E6A8-4984-A4F5-3E2BB196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51F43EEE-7D0D-47F6-8A8E-FC779C6D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실제 외부 AI 회신과 Codex의 다음 발언이 있습니다</a:t>
            </a:r>
          </a:p>
        </p:txBody>
      </p:sp>
      <p:sp>
        <p:nvSpPr>
          <p:cNvPr id="7" name="mark-1">
            <a:extLst xmlns:a="http://schemas.openxmlformats.org/drawingml/2006/main">
              <a:ext uri="{FF2B5EF4-FFF2-40B4-BE49-F238E27FC236}">
                <a16:creationId xmlns:a16="http://schemas.microsoft.com/office/drawing/2014/main" id="{A9564AD7-5AC8-4976-9AF7-D2031BC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D4D42057-2C29-41DF-94CC-1B5A214D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수신자와 전송한 대화 범위가 기록돼 있습니다</a:t>
            </a:r>
          </a:p>
        </p:txBody>
      </p:sp>
      <p:sp>
        <p:nvSpPr>
          <p:cNvPr id="9" name="mark-2">
            <a:extLst xmlns:a="http://schemas.openxmlformats.org/drawingml/2006/main">
              <a:ext uri="{FF2B5EF4-FFF2-40B4-BE49-F238E27FC236}">
                <a16:creationId xmlns:a16="http://schemas.microsoft.com/office/drawing/2014/main" id="{71AA0E3C-C3CE-4603-BB25-4D3BAE93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5C1"/>
          </a:solidFill>
          <a:ln xmlns:a="http://schemas.openxmlformats.org/drawingml/2006/main" w="0">
            <a:noFill/>
          </a:ln>
        </p:spPr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F9C3599C-134C-4C81-872B-3E41EC7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합의·불일치·사람의 판단을 구분했습니다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844328CE-F3A4-437F-873D-F8A28A6C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103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28 / 28</a:t>
            </a:r>
          </a:p>
        </p:txBody>
      </p:sp>
      <p:sp>
        <p:nvSpPr>
          <p:cNvPr id="12" name="source-ids">
            <a:extLst xmlns:a="http://schemas.openxmlformats.org/drawingml/2006/main">
              <a:ext uri="{FF2B5EF4-FFF2-40B4-BE49-F238E27FC236}">
                <a16:creationId xmlns:a16="http://schemas.microsoft.com/office/drawing/2014/main" id="{67BBE8C3-6E27-4CCE-8FB1-797B791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D6D6D"/>
                </a:solidFill>
                <a:latin typeface="Pretendard"/>
                <a:ea typeface="Pretendard"/>
                <a:cs typeface="Pretendard"/>
              </a:rPr>
              <a:t>근거 C1 · G1</a:t>
            </a:r>
          </a:p>
        </p:txBody>
      </p:sp>
    </p:spTree>
    <p:extLst>
      <p:ext uri="{BB962C8B-B14F-4D97-AF65-F5344CB8AC3E}">
        <p14:creationId xmlns:p14="http://schemas.microsoft.com/office/powerpoint/2010/main" val="2110201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2026-10-17T04:20:58.2190000Z</dcterms:created>
  <dcterms:modified xsi:type="dcterms:W3CDTF">2026-10-17T04:20:58.2190000Z</dcterms:modified>
</coreProperties>
</file>